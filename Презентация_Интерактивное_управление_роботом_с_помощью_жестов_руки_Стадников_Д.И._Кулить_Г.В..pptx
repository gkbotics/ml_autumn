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0"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Lst>
  <p:sldSz cx="12192000" cy="6858000"/>
  <p:notesSz cx="6858000" cy="9144000"/>
  <p:defaultTextStyle>
    <a:defPPr>
      <a:defRPr kern="0"/>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4" d="100"/>
          <a:sy n="84" d="100"/>
        </p:scale>
        <p:origin x="65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Титульный слайд">
    <p:spTree>
      <p:nvGrpSpPr>
        <p:cNvPr id="1" name=""/>
        <p:cNvGrpSpPr/>
        <p:nvPr/>
      </p:nvGrpSpPr>
      <p:grpSpPr>
        <a:xfrm>
          <a:off x="0" y="0"/>
          <a:ext cx="0" cy="0"/>
          <a:chOff x="0" y="0"/>
          <a:chExt cx="0" cy="0"/>
        </a:xfrm>
      </p:grpSpPr>
      <p:sp>
        <p:nvSpPr>
          <p:cNvPr id="2" name="Holder 2"/>
          <p:cNvSpPr>
            <a:spLocks noGrp="1"/>
          </p:cNvSpPr>
          <p:nvPr>
            <p:ph type="ctrTitle"/>
          </p:nvPr>
        </p:nvSpPr>
        <p:spPr>
          <a:xfrm>
            <a:off x="241692" y="69434"/>
            <a:ext cx="7043968" cy="455381"/>
          </a:xfrm>
          <a:prstGeom prst="rect">
            <a:avLst/>
          </a:prstGeom>
        </p:spPr>
        <p:txBody>
          <a:bodyPr wrap="square" lIns="0" tIns="0" rIns="0" bIns="0">
            <a:spAutoFit/>
          </a:bodyPr>
          <a:lstStyle>
            <a:lvl1pPr>
              <a:defRPr sz="2959" b="0" i="0">
                <a:solidFill>
                  <a:schemeClr val="bg1"/>
                </a:solidFill>
                <a:latin typeface="Tahoma"/>
                <a:cs typeface="Tahoma"/>
              </a:defRPr>
            </a:lvl1pPr>
          </a:lstStyle>
          <a:p>
            <a:r>
              <a:rPr lang="ru-RU" smtClean="0"/>
              <a:t>Образец заголовка</a:t>
            </a:r>
            <a:endParaRPr/>
          </a:p>
        </p:txBody>
      </p:sp>
      <p:sp>
        <p:nvSpPr>
          <p:cNvPr id="3" name="Holder 3"/>
          <p:cNvSpPr>
            <a:spLocks noGrp="1"/>
          </p:cNvSpPr>
          <p:nvPr>
            <p:ph type="subTitle" idx="4"/>
          </p:nvPr>
        </p:nvSpPr>
        <p:spPr>
          <a:xfrm>
            <a:off x="1828800" y="3840480"/>
            <a:ext cx="8534400" cy="357790"/>
          </a:xfrm>
          <a:prstGeom prst="rect">
            <a:avLst/>
          </a:prstGeom>
        </p:spPr>
        <p:txBody>
          <a:bodyPr wrap="square" lIns="0" tIns="0" rIns="0" bIns="0">
            <a:spAutoFit/>
          </a:bodyPr>
          <a:lstStyle>
            <a:lvl1pPr>
              <a:defRPr sz="2325" b="0" i="0">
                <a:solidFill>
                  <a:schemeClr val="tx1"/>
                </a:solidFill>
                <a:latin typeface="Tahoma"/>
                <a:cs typeface="Tahoma"/>
              </a:defRPr>
            </a:lvl1pPr>
          </a:lstStyle>
          <a:p>
            <a:r>
              <a:rPr lang="ru-RU" smtClean="0"/>
              <a:t>Образец подзаголовка</a:t>
            </a:r>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lang="ru-RU"/>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5CE9F3BC-88A1-41E7-A1D7-8EB44E37FF90}" type="datetimeFigureOut">
              <a:rPr lang="ru-RU" smtClean="0"/>
              <a:t>11.01.2025</a:t>
            </a:fld>
            <a:endParaRPr lang="ru-RU"/>
          </a:p>
        </p:txBody>
      </p:sp>
      <p:sp>
        <p:nvSpPr>
          <p:cNvPr id="6" name="Holder 6"/>
          <p:cNvSpPr>
            <a:spLocks noGrp="1"/>
          </p:cNvSpPr>
          <p:nvPr>
            <p:ph type="sldNum" sz="quarter" idx="7"/>
          </p:nvPr>
        </p:nvSpPr>
        <p:spPr/>
        <p:txBody>
          <a:bodyPr lIns="0" tIns="0" rIns="0" bIns="0"/>
          <a:lstStyle>
            <a:lvl1pPr>
              <a:defRPr sz="1268" b="0" i="0">
                <a:solidFill>
                  <a:schemeClr val="bg1"/>
                </a:solidFill>
                <a:latin typeface="Arial MT"/>
                <a:cs typeface="Arial MT"/>
              </a:defRPr>
            </a:lvl1pPr>
          </a:lstStyle>
          <a:p>
            <a:fld id="{69B162F5-AA05-4C46-B618-7636793F2FC7}" type="slidenum">
              <a:rPr lang="ru-RU" smtClean="0"/>
              <a:t>‹#›</a:t>
            </a:fld>
            <a:endParaRPr lang="ru-RU"/>
          </a:p>
        </p:txBody>
      </p:sp>
    </p:spTree>
    <p:extLst>
      <p:ext uri="{BB962C8B-B14F-4D97-AF65-F5344CB8AC3E}">
        <p14:creationId xmlns:p14="http://schemas.microsoft.com/office/powerpoint/2010/main" val="944178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Holder 2"/>
          <p:cNvSpPr>
            <a:spLocks noGrp="1"/>
          </p:cNvSpPr>
          <p:nvPr>
            <p:ph type="title"/>
          </p:nvPr>
        </p:nvSpPr>
        <p:spPr>
          <a:xfrm>
            <a:off x="241692" y="69434"/>
            <a:ext cx="9087605" cy="455381"/>
          </a:xfrm>
        </p:spPr>
        <p:txBody>
          <a:bodyPr lIns="0" tIns="0" rIns="0" bIns="0"/>
          <a:lstStyle>
            <a:lvl1pPr>
              <a:defRPr sz="2959" b="0" i="0">
                <a:solidFill>
                  <a:schemeClr val="bg1"/>
                </a:solidFill>
                <a:latin typeface="Tahoma"/>
                <a:cs typeface="Tahoma"/>
              </a:defRPr>
            </a:lvl1pPr>
          </a:lstStyle>
          <a:p>
            <a:r>
              <a:rPr lang="ru-RU" smtClean="0"/>
              <a:t>Образец заголовка</a:t>
            </a:r>
            <a:endParaRPr/>
          </a:p>
        </p:txBody>
      </p:sp>
      <p:sp>
        <p:nvSpPr>
          <p:cNvPr id="3" name="Holder 3"/>
          <p:cNvSpPr>
            <a:spLocks noGrp="1"/>
          </p:cNvSpPr>
          <p:nvPr>
            <p:ph type="body" idx="1"/>
          </p:nvPr>
        </p:nvSpPr>
        <p:spPr>
          <a:xfrm>
            <a:off x="831821" y="1775989"/>
            <a:ext cx="10528354" cy="357790"/>
          </a:xfrm>
        </p:spPr>
        <p:txBody>
          <a:bodyPr lIns="0" tIns="0" rIns="0" bIns="0"/>
          <a:lstStyle>
            <a:lvl1pPr>
              <a:defRPr sz="2325" b="0" i="0">
                <a:solidFill>
                  <a:schemeClr val="tx1"/>
                </a:solidFill>
                <a:latin typeface="Tahoma"/>
                <a:cs typeface="Tahoma"/>
              </a:defRPr>
            </a:lvl1pPr>
          </a:lstStyle>
          <a:p>
            <a:pPr lvl="0"/>
            <a:r>
              <a:rPr lang="ru-RU" smtClean="0"/>
              <a:t>Образец текста</a:t>
            </a: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lang="ru-RU"/>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5CE9F3BC-88A1-41E7-A1D7-8EB44E37FF90}" type="datetimeFigureOut">
              <a:rPr lang="ru-RU" smtClean="0"/>
              <a:t>11.01.2025</a:t>
            </a:fld>
            <a:endParaRPr lang="ru-RU"/>
          </a:p>
        </p:txBody>
      </p:sp>
      <p:sp>
        <p:nvSpPr>
          <p:cNvPr id="6" name="Holder 6"/>
          <p:cNvSpPr>
            <a:spLocks noGrp="1"/>
          </p:cNvSpPr>
          <p:nvPr>
            <p:ph type="sldNum" sz="quarter" idx="7"/>
          </p:nvPr>
        </p:nvSpPr>
        <p:spPr/>
        <p:txBody>
          <a:bodyPr lIns="0" tIns="0" rIns="0" bIns="0"/>
          <a:lstStyle>
            <a:lvl1pPr>
              <a:defRPr sz="1268" b="0" i="0">
                <a:solidFill>
                  <a:schemeClr val="bg1"/>
                </a:solidFill>
                <a:latin typeface="Arial MT"/>
                <a:cs typeface="Arial MT"/>
              </a:defRPr>
            </a:lvl1pPr>
          </a:lstStyle>
          <a:p>
            <a:fld id="{69B162F5-AA05-4C46-B618-7636793F2FC7}" type="slidenum">
              <a:rPr lang="ru-RU" smtClean="0"/>
              <a:t>‹#›</a:t>
            </a:fld>
            <a:endParaRPr lang="ru-RU"/>
          </a:p>
        </p:txBody>
      </p:sp>
    </p:spTree>
    <p:extLst>
      <p:ext uri="{BB962C8B-B14F-4D97-AF65-F5344CB8AC3E}">
        <p14:creationId xmlns:p14="http://schemas.microsoft.com/office/powerpoint/2010/main" val="2758941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Два объекта">
    <p:spTree>
      <p:nvGrpSpPr>
        <p:cNvPr id="1" name=""/>
        <p:cNvGrpSpPr/>
        <p:nvPr/>
      </p:nvGrpSpPr>
      <p:grpSpPr>
        <a:xfrm>
          <a:off x="0" y="0"/>
          <a:ext cx="0" cy="0"/>
          <a:chOff x="0" y="0"/>
          <a:chExt cx="0" cy="0"/>
        </a:xfrm>
      </p:grpSpPr>
      <p:sp>
        <p:nvSpPr>
          <p:cNvPr id="2" name="Holder 2"/>
          <p:cNvSpPr>
            <a:spLocks noGrp="1"/>
          </p:cNvSpPr>
          <p:nvPr>
            <p:ph type="title"/>
          </p:nvPr>
        </p:nvSpPr>
        <p:spPr>
          <a:xfrm>
            <a:off x="241692" y="69434"/>
            <a:ext cx="9087605" cy="455381"/>
          </a:xfrm>
        </p:spPr>
        <p:txBody>
          <a:bodyPr lIns="0" tIns="0" rIns="0" bIns="0"/>
          <a:lstStyle>
            <a:lvl1pPr>
              <a:defRPr sz="2959" b="0" i="0">
                <a:solidFill>
                  <a:schemeClr val="bg1"/>
                </a:solidFill>
                <a:latin typeface="Tahoma"/>
                <a:cs typeface="Tahoma"/>
              </a:defRPr>
            </a:lvl1pPr>
          </a:lstStyle>
          <a:p>
            <a:r>
              <a:rPr lang="ru-RU" smtClean="0"/>
              <a:t>Образец заголовка</a:t>
            </a:r>
            <a:endParaRPr/>
          </a:p>
        </p:txBody>
      </p:sp>
      <p:sp>
        <p:nvSpPr>
          <p:cNvPr id="3" name="Holder 3"/>
          <p:cNvSpPr>
            <a:spLocks noGrp="1"/>
          </p:cNvSpPr>
          <p:nvPr>
            <p:ph sz="half" idx="2"/>
          </p:nvPr>
        </p:nvSpPr>
        <p:spPr>
          <a:xfrm>
            <a:off x="609601" y="1577340"/>
            <a:ext cx="5303520" cy="169277"/>
          </a:xfrm>
          <a:prstGeom prst="rect">
            <a:avLst/>
          </a:prstGeom>
        </p:spPr>
        <p:txBody>
          <a:bodyPr wrap="square" lIns="0" tIns="0" rIns="0" bIns="0">
            <a:spAutoFit/>
          </a:bodyPr>
          <a:lstStyle>
            <a:lvl1pPr>
              <a:defRPr/>
            </a:lvl1pPr>
          </a:lstStyle>
          <a:p>
            <a:pPr lvl="0"/>
            <a:r>
              <a:rPr lang="ru-RU" smtClean="0"/>
              <a:t>Образец текста</a:t>
            </a:r>
          </a:p>
        </p:txBody>
      </p:sp>
      <p:sp>
        <p:nvSpPr>
          <p:cNvPr id="4" name="Holder 4"/>
          <p:cNvSpPr>
            <a:spLocks noGrp="1"/>
          </p:cNvSpPr>
          <p:nvPr>
            <p:ph sz="half" idx="3"/>
          </p:nvPr>
        </p:nvSpPr>
        <p:spPr>
          <a:xfrm>
            <a:off x="6278881" y="1577340"/>
            <a:ext cx="5303520" cy="169277"/>
          </a:xfrm>
          <a:prstGeom prst="rect">
            <a:avLst/>
          </a:prstGeom>
        </p:spPr>
        <p:txBody>
          <a:bodyPr wrap="square" lIns="0" tIns="0" rIns="0" bIns="0">
            <a:spAutoFit/>
          </a:bodyPr>
          <a:lstStyle>
            <a:lvl1pPr>
              <a:defRPr/>
            </a:lvl1pPr>
          </a:lstStyle>
          <a:p>
            <a:pPr lvl="0"/>
            <a:r>
              <a:rPr lang="ru-RU" smtClean="0"/>
              <a:t>Образец текста</a:t>
            </a: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lang="ru-RU"/>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5CE9F3BC-88A1-41E7-A1D7-8EB44E37FF90}" type="datetimeFigureOut">
              <a:rPr lang="ru-RU" smtClean="0"/>
              <a:t>11.01.2025</a:t>
            </a:fld>
            <a:endParaRPr lang="ru-RU"/>
          </a:p>
        </p:txBody>
      </p:sp>
      <p:sp>
        <p:nvSpPr>
          <p:cNvPr id="7" name="Holder 7"/>
          <p:cNvSpPr>
            <a:spLocks noGrp="1"/>
          </p:cNvSpPr>
          <p:nvPr>
            <p:ph type="sldNum" sz="quarter" idx="7"/>
          </p:nvPr>
        </p:nvSpPr>
        <p:spPr/>
        <p:txBody>
          <a:bodyPr lIns="0" tIns="0" rIns="0" bIns="0"/>
          <a:lstStyle>
            <a:lvl1pPr>
              <a:defRPr sz="1268" b="0" i="0">
                <a:solidFill>
                  <a:schemeClr val="bg1"/>
                </a:solidFill>
                <a:latin typeface="Arial MT"/>
                <a:cs typeface="Arial MT"/>
              </a:defRPr>
            </a:lvl1pPr>
          </a:lstStyle>
          <a:p>
            <a:fld id="{69B162F5-AA05-4C46-B618-7636793F2FC7}" type="slidenum">
              <a:rPr lang="ru-RU" smtClean="0"/>
              <a:t>‹#›</a:t>
            </a:fld>
            <a:endParaRPr lang="ru-RU"/>
          </a:p>
        </p:txBody>
      </p:sp>
    </p:spTree>
    <p:extLst>
      <p:ext uri="{BB962C8B-B14F-4D97-AF65-F5344CB8AC3E}">
        <p14:creationId xmlns:p14="http://schemas.microsoft.com/office/powerpoint/2010/main" val="1754221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Только заголовок">
    <p:spTree>
      <p:nvGrpSpPr>
        <p:cNvPr id="1" name=""/>
        <p:cNvGrpSpPr/>
        <p:nvPr/>
      </p:nvGrpSpPr>
      <p:grpSpPr>
        <a:xfrm>
          <a:off x="0" y="0"/>
          <a:ext cx="0" cy="0"/>
          <a:chOff x="0" y="0"/>
          <a:chExt cx="0" cy="0"/>
        </a:xfrm>
      </p:grpSpPr>
      <p:sp>
        <p:nvSpPr>
          <p:cNvPr id="2" name="Holder 2"/>
          <p:cNvSpPr>
            <a:spLocks noGrp="1"/>
          </p:cNvSpPr>
          <p:nvPr>
            <p:ph type="title"/>
          </p:nvPr>
        </p:nvSpPr>
        <p:spPr>
          <a:xfrm>
            <a:off x="241692" y="69434"/>
            <a:ext cx="9087605" cy="455381"/>
          </a:xfrm>
        </p:spPr>
        <p:txBody>
          <a:bodyPr lIns="0" tIns="0" rIns="0" bIns="0"/>
          <a:lstStyle>
            <a:lvl1pPr>
              <a:defRPr sz="2959" b="0" i="0">
                <a:solidFill>
                  <a:schemeClr val="bg1"/>
                </a:solidFill>
                <a:latin typeface="Tahoma"/>
                <a:cs typeface="Tahoma"/>
              </a:defRPr>
            </a:lvl1pPr>
          </a:lstStyle>
          <a:p>
            <a:r>
              <a:rPr lang="ru-RU" smtClean="0"/>
              <a:t>Образец заголовка</a:t>
            </a:r>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lang="ru-RU"/>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5CE9F3BC-88A1-41E7-A1D7-8EB44E37FF90}" type="datetimeFigureOut">
              <a:rPr lang="ru-RU" smtClean="0"/>
              <a:t>11.01.2025</a:t>
            </a:fld>
            <a:endParaRPr lang="ru-RU"/>
          </a:p>
        </p:txBody>
      </p:sp>
      <p:sp>
        <p:nvSpPr>
          <p:cNvPr id="5" name="Holder 5"/>
          <p:cNvSpPr>
            <a:spLocks noGrp="1"/>
          </p:cNvSpPr>
          <p:nvPr>
            <p:ph type="sldNum" sz="quarter" idx="7"/>
          </p:nvPr>
        </p:nvSpPr>
        <p:spPr/>
        <p:txBody>
          <a:bodyPr lIns="0" tIns="0" rIns="0" bIns="0"/>
          <a:lstStyle>
            <a:lvl1pPr>
              <a:defRPr sz="1268" b="0" i="0">
                <a:solidFill>
                  <a:schemeClr val="bg1"/>
                </a:solidFill>
                <a:latin typeface="Arial MT"/>
                <a:cs typeface="Arial MT"/>
              </a:defRPr>
            </a:lvl1pPr>
          </a:lstStyle>
          <a:p>
            <a:fld id="{69B162F5-AA05-4C46-B618-7636793F2FC7}" type="slidenum">
              <a:rPr lang="ru-RU" smtClean="0"/>
              <a:t>‹#›</a:t>
            </a:fld>
            <a:endParaRPr lang="ru-RU"/>
          </a:p>
        </p:txBody>
      </p:sp>
    </p:spTree>
    <p:extLst>
      <p:ext uri="{BB962C8B-B14F-4D97-AF65-F5344CB8AC3E}">
        <p14:creationId xmlns:p14="http://schemas.microsoft.com/office/powerpoint/2010/main" val="1367199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Пустой слайд">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lang="ru-RU"/>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5CE9F3BC-88A1-41E7-A1D7-8EB44E37FF90}" type="datetimeFigureOut">
              <a:rPr lang="ru-RU" smtClean="0"/>
              <a:t>11.01.2025</a:t>
            </a:fld>
            <a:endParaRPr lang="ru-RU"/>
          </a:p>
        </p:txBody>
      </p:sp>
      <p:sp>
        <p:nvSpPr>
          <p:cNvPr id="4" name="Holder 4"/>
          <p:cNvSpPr>
            <a:spLocks noGrp="1"/>
          </p:cNvSpPr>
          <p:nvPr>
            <p:ph type="sldNum" sz="quarter" idx="7"/>
          </p:nvPr>
        </p:nvSpPr>
        <p:spPr/>
        <p:txBody>
          <a:bodyPr lIns="0" tIns="0" rIns="0" bIns="0"/>
          <a:lstStyle>
            <a:lvl1pPr>
              <a:defRPr sz="1268" b="0" i="0">
                <a:solidFill>
                  <a:schemeClr val="bg1"/>
                </a:solidFill>
                <a:latin typeface="Arial MT"/>
                <a:cs typeface="Arial MT"/>
              </a:defRPr>
            </a:lvl1pPr>
          </a:lstStyle>
          <a:p>
            <a:fld id="{69B162F5-AA05-4C46-B618-7636793F2FC7}" type="slidenum">
              <a:rPr lang="ru-RU" smtClean="0"/>
              <a:t>‹#›</a:t>
            </a:fld>
            <a:endParaRPr lang="ru-RU"/>
          </a:p>
        </p:txBody>
      </p:sp>
    </p:spTree>
    <p:extLst>
      <p:ext uri="{BB962C8B-B14F-4D97-AF65-F5344CB8AC3E}">
        <p14:creationId xmlns:p14="http://schemas.microsoft.com/office/powerpoint/2010/main" val="1391602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ru-RU" smtClean="0"/>
              <a:t>Образец заголовка</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5CE9F3BC-88A1-41E7-A1D7-8EB44E37FF90}" type="datetimeFigureOut">
              <a:rPr lang="ru-RU" smtClean="0"/>
              <a:t>11.01.2025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a:xfrm>
            <a:off x="531812" y="4529540"/>
            <a:ext cx="779767" cy="365125"/>
          </a:xfrm>
        </p:spPr>
        <p:txBody>
          <a:bodyPr/>
          <a:lstStyle/>
          <a:p>
            <a:fld id="{69B162F5-AA05-4C46-B618-7636793F2FC7}" type="slidenum">
              <a:rPr lang="ru-RU" smtClean="0"/>
              <a:t>‹#›</a:t>
            </a:fld>
            <a:endParaRPr lang="ru-RU"/>
          </a:p>
        </p:txBody>
      </p:sp>
    </p:spTree>
    <p:extLst>
      <p:ext uri="{BB962C8B-B14F-4D97-AF65-F5344CB8AC3E}">
        <p14:creationId xmlns:p14="http://schemas.microsoft.com/office/powerpoint/2010/main" val="215369868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 y="-24"/>
            <a:ext cx="12179915" cy="669695"/>
          </a:xfrm>
          <a:custGeom>
            <a:avLst/>
            <a:gdLst/>
            <a:ahLst/>
            <a:cxnLst/>
            <a:rect l="l" t="t" r="r" b="b"/>
            <a:pathLst>
              <a:path w="5760085" h="316865">
                <a:moveTo>
                  <a:pt x="5759996" y="0"/>
                </a:moveTo>
                <a:lnTo>
                  <a:pt x="0" y="0"/>
                </a:lnTo>
                <a:lnTo>
                  <a:pt x="0" y="316318"/>
                </a:lnTo>
                <a:lnTo>
                  <a:pt x="5759996" y="316318"/>
                </a:lnTo>
                <a:lnTo>
                  <a:pt x="5759996" y="0"/>
                </a:lnTo>
                <a:close/>
              </a:path>
            </a:pathLst>
          </a:custGeom>
          <a:solidFill>
            <a:srgbClr val="1946BA"/>
          </a:solidFill>
        </p:spPr>
        <p:txBody>
          <a:bodyPr wrap="square" lIns="0" tIns="0" rIns="0" bIns="0" rtlCol="0"/>
          <a:lstStyle/>
          <a:p>
            <a:endParaRPr sz="3804"/>
          </a:p>
        </p:txBody>
      </p:sp>
      <p:sp>
        <p:nvSpPr>
          <p:cNvPr id="2" name="Holder 2"/>
          <p:cNvSpPr>
            <a:spLocks noGrp="1"/>
          </p:cNvSpPr>
          <p:nvPr>
            <p:ph type="title"/>
          </p:nvPr>
        </p:nvSpPr>
        <p:spPr>
          <a:xfrm>
            <a:off x="241692" y="69434"/>
            <a:ext cx="9087605" cy="215444"/>
          </a:xfrm>
          <a:prstGeom prst="rect">
            <a:avLst/>
          </a:prstGeom>
        </p:spPr>
        <p:txBody>
          <a:bodyPr wrap="square" lIns="0" tIns="0" rIns="0" bIns="0">
            <a:spAutoFit/>
          </a:bodyPr>
          <a:lstStyle>
            <a:lvl1pPr>
              <a:defRPr sz="1400" b="0" i="0">
                <a:solidFill>
                  <a:schemeClr val="bg1"/>
                </a:solidFill>
                <a:latin typeface="Tahoma"/>
                <a:cs typeface="Tahoma"/>
              </a:defRPr>
            </a:lvl1pPr>
          </a:lstStyle>
          <a:p>
            <a:endParaRPr/>
          </a:p>
        </p:txBody>
      </p:sp>
      <p:sp>
        <p:nvSpPr>
          <p:cNvPr id="3" name="Holder 3"/>
          <p:cNvSpPr>
            <a:spLocks noGrp="1"/>
          </p:cNvSpPr>
          <p:nvPr>
            <p:ph type="body" idx="1"/>
          </p:nvPr>
        </p:nvSpPr>
        <p:spPr>
          <a:xfrm>
            <a:off x="831821" y="1775989"/>
            <a:ext cx="10528354" cy="169277"/>
          </a:xfrm>
          <a:prstGeom prst="rect">
            <a:avLst/>
          </a:prstGeom>
        </p:spPr>
        <p:txBody>
          <a:bodyPr wrap="square" lIns="0" tIns="0" rIns="0" bIns="0">
            <a:spAutoFit/>
          </a:bodyPr>
          <a:lstStyle>
            <a:lvl1pPr>
              <a:defRPr sz="11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4145280" y="6377939"/>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lang="ru-RU"/>
          </a:p>
        </p:txBody>
      </p:sp>
      <p:sp>
        <p:nvSpPr>
          <p:cNvPr id="5" name="Holder 5"/>
          <p:cNvSpPr>
            <a:spLocks noGrp="1"/>
          </p:cNvSpPr>
          <p:nvPr>
            <p:ph type="dt" sz="half" idx="6"/>
          </p:nvPr>
        </p:nvSpPr>
        <p:spPr>
          <a:xfrm>
            <a:off x="609600" y="6377939"/>
            <a:ext cx="2804160" cy="276999"/>
          </a:xfrm>
          <a:prstGeom prst="rect">
            <a:avLst/>
          </a:prstGeom>
        </p:spPr>
        <p:txBody>
          <a:bodyPr wrap="square" lIns="0" tIns="0" rIns="0" bIns="0">
            <a:spAutoFit/>
          </a:bodyPr>
          <a:lstStyle>
            <a:lvl1pPr algn="l">
              <a:defRPr>
                <a:solidFill>
                  <a:schemeClr val="tx1">
                    <a:tint val="75000"/>
                  </a:schemeClr>
                </a:solidFill>
              </a:defRPr>
            </a:lvl1pPr>
          </a:lstStyle>
          <a:p>
            <a:fld id="{5CE9F3BC-88A1-41E7-A1D7-8EB44E37FF90}" type="datetimeFigureOut">
              <a:rPr lang="ru-RU" smtClean="0"/>
              <a:t>11.01.2025</a:t>
            </a:fld>
            <a:endParaRPr lang="ru-RU"/>
          </a:p>
        </p:txBody>
      </p:sp>
      <p:sp>
        <p:nvSpPr>
          <p:cNvPr id="6" name="Holder 6"/>
          <p:cNvSpPr>
            <a:spLocks noGrp="1"/>
          </p:cNvSpPr>
          <p:nvPr>
            <p:ph type="sldNum" sz="quarter" idx="7"/>
          </p:nvPr>
        </p:nvSpPr>
        <p:spPr>
          <a:xfrm>
            <a:off x="11276970" y="6556195"/>
            <a:ext cx="648537" cy="179536"/>
          </a:xfrm>
          <a:prstGeom prst="rect">
            <a:avLst/>
          </a:prstGeom>
        </p:spPr>
        <p:txBody>
          <a:bodyPr wrap="square" lIns="0" tIns="0" rIns="0" bIns="0">
            <a:spAutoFit/>
          </a:bodyPr>
          <a:lstStyle>
            <a:lvl1pPr>
              <a:defRPr sz="1268" b="0" i="0">
                <a:solidFill>
                  <a:schemeClr val="bg1"/>
                </a:solidFill>
                <a:latin typeface="Arial MT"/>
                <a:cs typeface="Arial MT"/>
              </a:defRPr>
            </a:lvl1pPr>
          </a:lstStyle>
          <a:p>
            <a:fld id="{69B162F5-AA05-4C46-B618-7636793F2FC7}" type="slidenum">
              <a:rPr lang="ru-RU" smtClean="0"/>
              <a:t>‹#›</a:t>
            </a:fld>
            <a:endParaRPr lang="ru-RU"/>
          </a:p>
        </p:txBody>
      </p:sp>
    </p:spTree>
    <p:extLst>
      <p:ext uri="{BB962C8B-B14F-4D97-AF65-F5344CB8AC3E}">
        <p14:creationId xmlns:p14="http://schemas.microsoft.com/office/powerpoint/2010/main" val="1169832095"/>
      </p:ext>
    </p:extLst>
  </p:cSld>
  <p:clrMap bg1="lt1" tx1="dk1" bg2="lt2" tx2="dk2" accent1="accent1" accent2="accent2" accent3="accent3" accent4="accent4" accent5="accent5" accent6="accent6" hlink="hlink" folHlink="folHlink"/>
  <p:sldLayoutIdLst>
    <p:sldLayoutId id="2147483821" r:id="rId1"/>
    <p:sldLayoutId id="2147483822" r:id="rId2"/>
    <p:sldLayoutId id="2147483823" r:id="rId3"/>
    <p:sldLayoutId id="2147483824" r:id="rId4"/>
    <p:sldLayoutId id="2147483825" r:id="rId5"/>
    <p:sldLayoutId id="2147483826" r:id="rId6"/>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966292" eaLnBrk="1" hangingPunct="1">
        <a:defRPr>
          <a:latin typeface="+mn-lt"/>
          <a:ea typeface="+mn-ea"/>
          <a:cs typeface="+mn-cs"/>
        </a:defRPr>
      </a:lvl2pPr>
      <a:lvl3pPr marL="1932584" eaLnBrk="1" hangingPunct="1">
        <a:defRPr>
          <a:latin typeface="+mn-lt"/>
          <a:ea typeface="+mn-ea"/>
          <a:cs typeface="+mn-cs"/>
        </a:defRPr>
      </a:lvl3pPr>
      <a:lvl4pPr marL="2898877" eaLnBrk="1" hangingPunct="1">
        <a:defRPr>
          <a:latin typeface="+mn-lt"/>
          <a:ea typeface="+mn-ea"/>
          <a:cs typeface="+mn-cs"/>
        </a:defRPr>
      </a:lvl4pPr>
      <a:lvl5pPr marL="3865169" eaLnBrk="1" hangingPunct="1">
        <a:defRPr>
          <a:latin typeface="+mn-lt"/>
          <a:ea typeface="+mn-ea"/>
          <a:cs typeface="+mn-cs"/>
        </a:defRPr>
      </a:lvl5pPr>
      <a:lvl6pPr marL="4831461" eaLnBrk="1" hangingPunct="1">
        <a:defRPr>
          <a:latin typeface="+mn-lt"/>
          <a:ea typeface="+mn-ea"/>
          <a:cs typeface="+mn-cs"/>
        </a:defRPr>
      </a:lvl6pPr>
      <a:lvl7pPr marL="5797753" eaLnBrk="1" hangingPunct="1">
        <a:defRPr>
          <a:latin typeface="+mn-lt"/>
          <a:ea typeface="+mn-ea"/>
          <a:cs typeface="+mn-cs"/>
        </a:defRPr>
      </a:lvl7pPr>
      <a:lvl8pPr marL="6764045" eaLnBrk="1" hangingPunct="1">
        <a:defRPr>
          <a:latin typeface="+mn-lt"/>
          <a:ea typeface="+mn-ea"/>
          <a:cs typeface="+mn-cs"/>
        </a:defRPr>
      </a:lvl8pPr>
      <a:lvl9pPr marL="7730338" eaLnBrk="1" hangingPunct="1">
        <a:defRPr>
          <a:latin typeface="+mn-lt"/>
          <a:ea typeface="+mn-ea"/>
          <a:cs typeface="+mn-cs"/>
        </a:defRPr>
      </a:lvl9pPr>
    </p:bodyStyle>
    <p:otherStyle>
      <a:lvl1pPr marL="0" eaLnBrk="1" hangingPunct="1">
        <a:defRPr>
          <a:latin typeface="+mn-lt"/>
          <a:ea typeface="+mn-ea"/>
          <a:cs typeface="+mn-cs"/>
        </a:defRPr>
      </a:lvl1pPr>
      <a:lvl2pPr marL="966292" eaLnBrk="1" hangingPunct="1">
        <a:defRPr>
          <a:latin typeface="+mn-lt"/>
          <a:ea typeface="+mn-ea"/>
          <a:cs typeface="+mn-cs"/>
        </a:defRPr>
      </a:lvl2pPr>
      <a:lvl3pPr marL="1932584" eaLnBrk="1" hangingPunct="1">
        <a:defRPr>
          <a:latin typeface="+mn-lt"/>
          <a:ea typeface="+mn-ea"/>
          <a:cs typeface="+mn-cs"/>
        </a:defRPr>
      </a:lvl3pPr>
      <a:lvl4pPr marL="2898877" eaLnBrk="1" hangingPunct="1">
        <a:defRPr>
          <a:latin typeface="+mn-lt"/>
          <a:ea typeface="+mn-ea"/>
          <a:cs typeface="+mn-cs"/>
        </a:defRPr>
      </a:lvl4pPr>
      <a:lvl5pPr marL="3865169" eaLnBrk="1" hangingPunct="1">
        <a:defRPr>
          <a:latin typeface="+mn-lt"/>
          <a:ea typeface="+mn-ea"/>
          <a:cs typeface="+mn-cs"/>
        </a:defRPr>
      </a:lvl5pPr>
      <a:lvl6pPr marL="4831461" eaLnBrk="1" hangingPunct="1">
        <a:defRPr>
          <a:latin typeface="+mn-lt"/>
          <a:ea typeface="+mn-ea"/>
          <a:cs typeface="+mn-cs"/>
        </a:defRPr>
      </a:lvl6pPr>
      <a:lvl7pPr marL="5797753" eaLnBrk="1" hangingPunct="1">
        <a:defRPr>
          <a:latin typeface="+mn-lt"/>
          <a:ea typeface="+mn-ea"/>
          <a:cs typeface="+mn-cs"/>
        </a:defRPr>
      </a:lvl7pPr>
      <a:lvl8pPr marL="6764045" eaLnBrk="1" hangingPunct="1">
        <a:defRPr>
          <a:latin typeface="+mn-lt"/>
          <a:ea typeface="+mn-ea"/>
          <a:cs typeface="+mn-cs"/>
        </a:defRPr>
      </a:lvl8pPr>
      <a:lvl9pPr marL="7730338" eaLnBrk="1" hangingPunct="1">
        <a:defRPr>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object 32"/>
          <p:cNvSpPr/>
          <p:nvPr/>
        </p:nvSpPr>
        <p:spPr>
          <a:xfrm>
            <a:off x="38" y="0"/>
            <a:ext cx="12191962" cy="6857841"/>
          </a:xfrm>
          <a:custGeom>
            <a:avLst/>
            <a:gdLst/>
            <a:ahLst/>
            <a:cxnLst/>
            <a:rect l="l" t="t" r="r" b="b"/>
            <a:pathLst>
              <a:path w="5760085" h="3240405">
                <a:moveTo>
                  <a:pt x="5759826" y="3239901"/>
                </a:moveTo>
                <a:lnTo>
                  <a:pt x="0" y="3239901"/>
                </a:lnTo>
                <a:lnTo>
                  <a:pt x="0" y="0"/>
                </a:lnTo>
                <a:lnTo>
                  <a:pt x="5759826" y="0"/>
                </a:lnTo>
                <a:lnTo>
                  <a:pt x="5759826" y="3239901"/>
                </a:lnTo>
                <a:close/>
              </a:path>
            </a:pathLst>
          </a:custGeom>
          <a:solidFill>
            <a:srgbClr val="1846BA"/>
          </a:solidFill>
        </p:spPr>
        <p:txBody>
          <a:bodyPr wrap="square" lIns="0" tIns="0" rIns="0" bIns="0" rtlCol="0"/>
          <a:lstStyle/>
          <a:p>
            <a:endParaRPr/>
          </a:p>
        </p:txBody>
      </p:sp>
      <p:grpSp>
        <p:nvGrpSpPr>
          <p:cNvPr id="145" name="object 34"/>
          <p:cNvGrpSpPr/>
          <p:nvPr/>
        </p:nvGrpSpPr>
        <p:grpSpPr>
          <a:xfrm>
            <a:off x="5208438" y="213567"/>
            <a:ext cx="1649562" cy="947721"/>
            <a:chOff x="2556678" y="433023"/>
            <a:chExt cx="518159" cy="300355"/>
          </a:xfrm>
        </p:grpSpPr>
        <p:sp>
          <p:nvSpPr>
            <p:cNvPr id="146" name="object 35"/>
            <p:cNvSpPr/>
            <p:nvPr/>
          </p:nvSpPr>
          <p:spPr>
            <a:xfrm>
              <a:off x="2682303" y="461403"/>
              <a:ext cx="392430" cy="243840"/>
            </a:xfrm>
            <a:custGeom>
              <a:avLst/>
              <a:gdLst/>
              <a:ahLst/>
              <a:cxnLst/>
              <a:rect l="l" t="t" r="r" b="b"/>
              <a:pathLst>
                <a:path w="392430" h="243840">
                  <a:moveTo>
                    <a:pt x="48996" y="121767"/>
                  </a:moveTo>
                  <a:lnTo>
                    <a:pt x="47078" y="112229"/>
                  </a:lnTo>
                  <a:lnTo>
                    <a:pt x="41821" y="104444"/>
                  </a:lnTo>
                  <a:lnTo>
                    <a:pt x="34036" y="99187"/>
                  </a:lnTo>
                  <a:lnTo>
                    <a:pt x="24485" y="97269"/>
                  </a:lnTo>
                  <a:lnTo>
                    <a:pt x="14960" y="99187"/>
                  </a:lnTo>
                  <a:lnTo>
                    <a:pt x="7175" y="104444"/>
                  </a:lnTo>
                  <a:lnTo>
                    <a:pt x="1930" y="112229"/>
                  </a:lnTo>
                  <a:lnTo>
                    <a:pt x="0" y="121767"/>
                  </a:lnTo>
                  <a:lnTo>
                    <a:pt x="1930" y="131292"/>
                  </a:lnTo>
                  <a:lnTo>
                    <a:pt x="7175" y="139077"/>
                  </a:lnTo>
                  <a:lnTo>
                    <a:pt x="14960" y="144335"/>
                  </a:lnTo>
                  <a:lnTo>
                    <a:pt x="24485" y="146253"/>
                  </a:lnTo>
                  <a:lnTo>
                    <a:pt x="34036" y="144335"/>
                  </a:lnTo>
                  <a:lnTo>
                    <a:pt x="41821" y="139077"/>
                  </a:lnTo>
                  <a:lnTo>
                    <a:pt x="47078" y="131292"/>
                  </a:lnTo>
                  <a:lnTo>
                    <a:pt x="48996" y="121767"/>
                  </a:lnTo>
                  <a:close/>
                </a:path>
                <a:path w="392430" h="243840">
                  <a:moveTo>
                    <a:pt x="48996" y="51460"/>
                  </a:moveTo>
                  <a:lnTo>
                    <a:pt x="47078" y="41935"/>
                  </a:lnTo>
                  <a:lnTo>
                    <a:pt x="41821" y="34150"/>
                  </a:lnTo>
                  <a:lnTo>
                    <a:pt x="34036" y="28892"/>
                  </a:lnTo>
                  <a:lnTo>
                    <a:pt x="24485" y="26974"/>
                  </a:lnTo>
                  <a:lnTo>
                    <a:pt x="14960" y="28892"/>
                  </a:lnTo>
                  <a:lnTo>
                    <a:pt x="7175" y="34150"/>
                  </a:lnTo>
                  <a:lnTo>
                    <a:pt x="1930" y="41935"/>
                  </a:lnTo>
                  <a:lnTo>
                    <a:pt x="0" y="51460"/>
                  </a:lnTo>
                  <a:lnTo>
                    <a:pt x="1930" y="60998"/>
                  </a:lnTo>
                  <a:lnTo>
                    <a:pt x="7175" y="68783"/>
                  </a:lnTo>
                  <a:lnTo>
                    <a:pt x="14960" y="74041"/>
                  </a:lnTo>
                  <a:lnTo>
                    <a:pt x="24485" y="75971"/>
                  </a:lnTo>
                  <a:lnTo>
                    <a:pt x="34036" y="74041"/>
                  </a:lnTo>
                  <a:lnTo>
                    <a:pt x="41821" y="68783"/>
                  </a:lnTo>
                  <a:lnTo>
                    <a:pt x="47078" y="60998"/>
                  </a:lnTo>
                  <a:lnTo>
                    <a:pt x="48996" y="51460"/>
                  </a:lnTo>
                  <a:close/>
                </a:path>
                <a:path w="392430" h="243840">
                  <a:moveTo>
                    <a:pt x="111125" y="218173"/>
                  </a:moveTo>
                  <a:lnTo>
                    <a:pt x="103822" y="210870"/>
                  </a:lnTo>
                  <a:lnTo>
                    <a:pt x="85763" y="210870"/>
                  </a:lnTo>
                  <a:lnTo>
                    <a:pt x="78460" y="218173"/>
                  </a:lnTo>
                  <a:lnTo>
                    <a:pt x="78460" y="236232"/>
                  </a:lnTo>
                  <a:lnTo>
                    <a:pt x="85763" y="243535"/>
                  </a:lnTo>
                  <a:lnTo>
                    <a:pt x="103822" y="243535"/>
                  </a:lnTo>
                  <a:lnTo>
                    <a:pt x="111125" y="236232"/>
                  </a:lnTo>
                  <a:lnTo>
                    <a:pt x="111125" y="227190"/>
                  </a:lnTo>
                  <a:lnTo>
                    <a:pt x="111125" y="218173"/>
                  </a:lnTo>
                  <a:close/>
                </a:path>
                <a:path w="392430" h="243840">
                  <a:moveTo>
                    <a:pt x="119291" y="156908"/>
                  </a:moveTo>
                  <a:lnTo>
                    <a:pt x="117360" y="147370"/>
                  </a:lnTo>
                  <a:lnTo>
                    <a:pt x="112115" y="139585"/>
                  </a:lnTo>
                  <a:lnTo>
                    <a:pt x="104330" y="134340"/>
                  </a:lnTo>
                  <a:lnTo>
                    <a:pt x="94805" y="132410"/>
                  </a:lnTo>
                  <a:lnTo>
                    <a:pt x="85267" y="134340"/>
                  </a:lnTo>
                  <a:lnTo>
                    <a:pt x="77470" y="139585"/>
                  </a:lnTo>
                  <a:lnTo>
                    <a:pt x="72224" y="147370"/>
                  </a:lnTo>
                  <a:lnTo>
                    <a:pt x="70294" y="156908"/>
                  </a:lnTo>
                  <a:lnTo>
                    <a:pt x="72224" y="166446"/>
                  </a:lnTo>
                  <a:lnTo>
                    <a:pt x="77470" y="174231"/>
                  </a:lnTo>
                  <a:lnTo>
                    <a:pt x="85267" y="179489"/>
                  </a:lnTo>
                  <a:lnTo>
                    <a:pt x="94805" y="181406"/>
                  </a:lnTo>
                  <a:lnTo>
                    <a:pt x="104330" y="179489"/>
                  </a:lnTo>
                  <a:lnTo>
                    <a:pt x="112115" y="174231"/>
                  </a:lnTo>
                  <a:lnTo>
                    <a:pt x="117360" y="166446"/>
                  </a:lnTo>
                  <a:lnTo>
                    <a:pt x="119291" y="156908"/>
                  </a:lnTo>
                  <a:close/>
                </a:path>
                <a:path w="392430" h="243840">
                  <a:moveTo>
                    <a:pt x="119291" y="86614"/>
                  </a:moveTo>
                  <a:lnTo>
                    <a:pt x="117360" y="77089"/>
                  </a:lnTo>
                  <a:lnTo>
                    <a:pt x="112115" y="69303"/>
                  </a:lnTo>
                  <a:lnTo>
                    <a:pt x="104330" y="64058"/>
                  </a:lnTo>
                  <a:lnTo>
                    <a:pt x="94805" y="62128"/>
                  </a:lnTo>
                  <a:lnTo>
                    <a:pt x="85267" y="64058"/>
                  </a:lnTo>
                  <a:lnTo>
                    <a:pt x="77470" y="69303"/>
                  </a:lnTo>
                  <a:lnTo>
                    <a:pt x="72224" y="77089"/>
                  </a:lnTo>
                  <a:lnTo>
                    <a:pt x="70294" y="86614"/>
                  </a:lnTo>
                  <a:lnTo>
                    <a:pt x="72224" y="96151"/>
                  </a:lnTo>
                  <a:lnTo>
                    <a:pt x="77470" y="103936"/>
                  </a:lnTo>
                  <a:lnTo>
                    <a:pt x="85267" y="109181"/>
                  </a:lnTo>
                  <a:lnTo>
                    <a:pt x="94805" y="111099"/>
                  </a:lnTo>
                  <a:lnTo>
                    <a:pt x="104330" y="109181"/>
                  </a:lnTo>
                  <a:lnTo>
                    <a:pt x="112115" y="103936"/>
                  </a:lnTo>
                  <a:lnTo>
                    <a:pt x="117360" y="96151"/>
                  </a:lnTo>
                  <a:lnTo>
                    <a:pt x="119291" y="86614"/>
                  </a:lnTo>
                  <a:close/>
                </a:path>
                <a:path w="392430" h="243840">
                  <a:moveTo>
                    <a:pt x="181419" y="183045"/>
                  </a:moveTo>
                  <a:lnTo>
                    <a:pt x="174104" y="175742"/>
                  </a:lnTo>
                  <a:lnTo>
                    <a:pt x="156083" y="175742"/>
                  </a:lnTo>
                  <a:lnTo>
                    <a:pt x="148767" y="183045"/>
                  </a:lnTo>
                  <a:lnTo>
                    <a:pt x="148767" y="201079"/>
                  </a:lnTo>
                  <a:lnTo>
                    <a:pt x="156083" y="208381"/>
                  </a:lnTo>
                  <a:lnTo>
                    <a:pt x="174104" y="208381"/>
                  </a:lnTo>
                  <a:lnTo>
                    <a:pt x="181419" y="201079"/>
                  </a:lnTo>
                  <a:lnTo>
                    <a:pt x="181419" y="192062"/>
                  </a:lnTo>
                  <a:lnTo>
                    <a:pt x="181419" y="183045"/>
                  </a:lnTo>
                  <a:close/>
                </a:path>
                <a:path w="392430" h="243840">
                  <a:moveTo>
                    <a:pt x="181419" y="42443"/>
                  </a:moveTo>
                  <a:lnTo>
                    <a:pt x="174104" y="35128"/>
                  </a:lnTo>
                  <a:lnTo>
                    <a:pt x="156083" y="35128"/>
                  </a:lnTo>
                  <a:lnTo>
                    <a:pt x="148767" y="42443"/>
                  </a:lnTo>
                  <a:lnTo>
                    <a:pt x="148767" y="60477"/>
                  </a:lnTo>
                  <a:lnTo>
                    <a:pt x="156083" y="67805"/>
                  </a:lnTo>
                  <a:lnTo>
                    <a:pt x="174104" y="67805"/>
                  </a:lnTo>
                  <a:lnTo>
                    <a:pt x="181419" y="60477"/>
                  </a:lnTo>
                  <a:lnTo>
                    <a:pt x="181419" y="51460"/>
                  </a:lnTo>
                  <a:lnTo>
                    <a:pt x="181419" y="42443"/>
                  </a:lnTo>
                  <a:close/>
                </a:path>
                <a:path w="392430" h="243840">
                  <a:moveTo>
                    <a:pt x="189585" y="121767"/>
                  </a:moveTo>
                  <a:lnTo>
                    <a:pt x="187655" y="112229"/>
                  </a:lnTo>
                  <a:lnTo>
                    <a:pt x="182410" y="104444"/>
                  </a:lnTo>
                  <a:lnTo>
                    <a:pt x="174625" y="99187"/>
                  </a:lnTo>
                  <a:lnTo>
                    <a:pt x="165100" y="97269"/>
                  </a:lnTo>
                  <a:lnTo>
                    <a:pt x="155562" y="99187"/>
                  </a:lnTo>
                  <a:lnTo>
                    <a:pt x="147777" y="104444"/>
                  </a:lnTo>
                  <a:lnTo>
                    <a:pt x="142532" y="112229"/>
                  </a:lnTo>
                  <a:lnTo>
                    <a:pt x="140614" y="121767"/>
                  </a:lnTo>
                  <a:lnTo>
                    <a:pt x="142532" y="131292"/>
                  </a:lnTo>
                  <a:lnTo>
                    <a:pt x="147777" y="139077"/>
                  </a:lnTo>
                  <a:lnTo>
                    <a:pt x="155562" y="144335"/>
                  </a:lnTo>
                  <a:lnTo>
                    <a:pt x="165100" y="146253"/>
                  </a:lnTo>
                  <a:lnTo>
                    <a:pt x="174625" y="144335"/>
                  </a:lnTo>
                  <a:lnTo>
                    <a:pt x="182410" y="139077"/>
                  </a:lnTo>
                  <a:lnTo>
                    <a:pt x="187655" y="131292"/>
                  </a:lnTo>
                  <a:lnTo>
                    <a:pt x="189585" y="121767"/>
                  </a:lnTo>
                  <a:close/>
                </a:path>
                <a:path w="392430" h="243840">
                  <a:moveTo>
                    <a:pt x="251714" y="218173"/>
                  </a:moveTo>
                  <a:lnTo>
                    <a:pt x="244398" y="210870"/>
                  </a:lnTo>
                  <a:lnTo>
                    <a:pt x="226364" y="210870"/>
                  </a:lnTo>
                  <a:lnTo>
                    <a:pt x="219062" y="218173"/>
                  </a:lnTo>
                  <a:lnTo>
                    <a:pt x="219062" y="236232"/>
                  </a:lnTo>
                  <a:lnTo>
                    <a:pt x="226364" y="243535"/>
                  </a:lnTo>
                  <a:lnTo>
                    <a:pt x="244398" y="243535"/>
                  </a:lnTo>
                  <a:lnTo>
                    <a:pt x="251714" y="236232"/>
                  </a:lnTo>
                  <a:lnTo>
                    <a:pt x="251714" y="227190"/>
                  </a:lnTo>
                  <a:lnTo>
                    <a:pt x="251714" y="218173"/>
                  </a:lnTo>
                  <a:close/>
                </a:path>
                <a:path w="392430" h="243840">
                  <a:moveTo>
                    <a:pt x="259867" y="156908"/>
                  </a:moveTo>
                  <a:lnTo>
                    <a:pt x="257949" y="147370"/>
                  </a:lnTo>
                  <a:lnTo>
                    <a:pt x="252691" y="139585"/>
                  </a:lnTo>
                  <a:lnTo>
                    <a:pt x="244906" y="134340"/>
                  </a:lnTo>
                  <a:lnTo>
                    <a:pt x="235381" y="132410"/>
                  </a:lnTo>
                  <a:lnTo>
                    <a:pt x="225844" y="134340"/>
                  </a:lnTo>
                  <a:lnTo>
                    <a:pt x="218071" y="139585"/>
                  </a:lnTo>
                  <a:lnTo>
                    <a:pt x="212826" y="147370"/>
                  </a:lnTo>
                  <a:lnTo>
                    <a:pt x="210896" y="156908"/>
                  </a:lnTo>
                  <a:lnTo>
                    <a:pt x="212826" y="166446"/>
                  </a:lnTo>
                  <a:lnTo>
                    <a:pt x="218071" y="174231"/>
                  </a:lnTo>
                  <a:lnTo>
                    <a:pt x="225844" y="179489"/>
                  </a:lnTo>
                  <a:lnTo>
                    <a:pt x="235381" y="181406"/>
                  </a:lnTo>
                  <a:lnTo>
                    <a:pt x="244906" y="179489"/>
                  </a:lnTo>
                  <a:lnTo>
                    <a:pt x="252691" y="174231"/>
                  </a:lnTo>
                  <a:lnTo>
                    <a:pt x="257949" y="166446"/>
                  </a:lnTo>
                  <a:lnTo>
                    <a:pt x="259867" y="156908"/>
                  </a:lnTo>
                  <a:close/>
                </a:path>
                <a:path w="392430" h="243840">
                  <a:moveTo>
                    <a:pt x="259867" y="86614"/>
                  </a:moveTo>
                  <a:lnTo>
                    <a:pt x="257949" y="77076"/>
                  </a:lnTo>
                  <a:lnTo>
                    <a:pt x="252691" y="69291"/>
                  </a:lnTo>
                  <a:lnTo>
                    <a:pt x="244906" y="64058"/>
                  </a:lnTo>
                  <a:lnTo>
                    <a:pt x="235381" y="62128"/>
                  </a:lnTo>
                  <a:lnTo>
                    <a:pt x="225844" y="64058"/>
                  </a:lnTo>
                  <a:lnTo>
                    <a:pt x="218071" y="69291"/>
                  </a:lnTo>
                  <a:lnTo>
                    <a:pt x="212826" y="77076"/>
                  </a:lnTo>
                  <a:lnTo>
                    <a:pt x="210896" y="86614"/>
                  </a:lnTo>
                  <a:lnTo>
                    <a:pt x="212826" y="96151"/>
                  </a:lnTo>
                  <a:lnTo>
                    <a:pt x="218071" y="103936"/>
                  </a:lnTo>
                  <a:lnTo>
                    <a:pt x="225844" y="109181"/>
                  </a:lnTo>
                  <a:lnTo>
                    <a:pt x="235381" y="111099"/>
                  </a:lnTo>
                  <a:lnTo>
                    <a:pt x="244906" y="109181"/>
                  </a:lnTo>
                  <a:lnTo>
                    <a:pt x="252691" y="103936"/>
                  </a:lnTo>
                  <a:lnTo>
                    <a:pt x="257949" y="96151"/>
                  </a:lnTo>
                  <a:lnTo>
                    <a:pt x="259867" y="86614"/>
                  </a:lnTo>
                  <a:close/>
                </a:path>
                <a:path w="392430" h="243840">
                  <a:moveTo>
                    <a:pt x="322021" y="183045"/>
                  </a:moveTo>
                  <a:lnTo>
                    <a:pt x="314706" y="175742"/>
                  </a:lnTo>
                  <a:lnTo>
                    <a:pt x="296659" y="175742"/>
                  </a:lnTo>
                  <a:lnTo>
                    <a:pt x="289356" y="183045"/>
                  </a:lnTo>
                  <a:lnTo>
                    <a:pt x="289356" y="201079"/>
                  </a:lnTo>
                  <a:lnTo>
                    <a:pt x="296659" y="208381"/>
                  </a:lnTo>
                  <a:lnTo>
                    <a:pt x="314706" y="208381"/>
                  </a:lnTo>
                  <a:lnTo>
                    <a:pt x="322021" y="201079"/>
                  </a:lnTo>
                  <a:lnTo>
                    <a:pt x="322021" y="192062"/>
                  </a:lnTo>
                  <a:lnTo>
                    <a:pt x="322021" y="183045"/>
                  </a:lnTo>
                  <a:close/>
                </a:path>
                <a:path w="392430" h="243840">
                  <a:moveTo>
                    <a:pt x="330187" y="121767"/>
                  </a:moveTo>
                  <a:lnTo>
                    <a:pt x="328256" y="112229"/>
                  </a:lnTo>
                  <a:lnTo>
                    <a:pt x="323011" y="104444"/>
                  </a:lnTo>
                  <a:lnTo>
                    <a:pt x="315214" y="99187"/>
                  </a:lnTo>
                  <a:lnTo>
                    <a:pt x="305676" y="97269"/>
                  </a:lnTo>
                  <a:lnTo>
                    <a:pt x="296151" y="99187"/>
                  </a:lnTo>
                  <a:lnTo>
                    <a:pt x="288366" y="104444"/>
                  </a:lnTo>
                  <a:lnTo>
                    <a:pt x="283121" y="112229"/>
                  </a:lnTo>
                  <a:lnTo>
                    <a:pt x="281190" y="121767"/>
                  </a:lnTo>
                  <a:lnTo>
                    <a:pt x="283121" y="131292"/>
                  </a:lnTo>
                  <a:lnTo>
                    <a:pt x="288366" y="139077"/>
                  </a:lnTo>
                  <a:lnTo>
                    <a:pt x="296151" y="144335"/>
                  </a:lnTo>
                  <a:lnTo>
                    <a:pt x="305676" y="146253"/>
                  </a:lnTo>
                  <a:lnTo>
                    <a:pt x="315214" y="144335"/>
                  </a:lnTo>
                  <a:lnTo>
                    <a:pt x="323011" y="139077"/>
                  </a:lnTo>
                  <a:lnTo>
                    <a:pt x="328256" y="131292"/>
                  </a:lnTo>
                  <a:lnTo>
                    <a:pt x="330187" y="121767"/>
                  </a:lnTo>
                  <a:close/>
                </a:path>
                <a:path w="392430" h="243840">
                  <a:moveTo>
                    <a:pt x="330187" y="51460"/>
                  </a:moveTo>
                  <a:lnTo>
                    <a:pt x="328256" y="41935"/>
                  </a:lnTo>
                  <a:lnTo>
                    <a:pt x="323011" y="34150"/>
                  </a:lnTo>
                  <a:lnTo>
                    <a:pt x="315214" y="28892"/>
                  </a:lnTo>
                  <a:lnTo>
                    <a:pt x="305676" y="26974"/>
                  </a:lnTo>
                  <a:lnTo>
                    <a:pt x="296151" y="28892"/>
                  </a:lnTo>
                  <a:lnTo>
                    <a:pt x="288366" y="34150"/>
                  </a:lnTo>
                  <a:lnTo>
                    <a:pt x="283121" y="41935"/>
                  </a:lnTo>
                  <a:lnTo>
                    <a:pt x="281190" y="51460"/>
                  </a:lnTo>
                  <a:lnTo>
                    <a:pt x="283121" y="60998"/>
                  </a:lnTo>
                  <a:lnTo>
                    <a:pt x="288366" y="68783"/>
                  </a:lnTo>
                  <a:lnTo>
                    <a:pt x="296151" y="74041"/>
                  </a:lnTo>
                  <a:lnTo>
                    <a:pt x="305676" y="75971"/>
                  </a:lnTo>
                  <a:lnTo>
                    <a:pt x="315214" y="74041"/>
                  </a:lnTo>
                  <a:lnTo>
                    <a:pt x="323011" y="68783"/>
                  </a:lnTo>
                  <a:lnTo>
                    <a:pt x="328256" y="60998"/>
                  </a:lnTo>
                  <a:lnTo>
                    <a:pt x="330187" y="51460"/>
                  </a:lnTo>
                  <a:close/>
                </a:path>
                <a:path w="392430" h="243840">
                  <a:moveTo>
                    <a:pt x="392315" y="147891"/>
                  </a:moveTo>
                  <a:lnTo>
                    <a:pt x="385000" y="140576"/>
                  </a:lnTo>
                  <a:lnTo>
                    <a:pt x="366966" y="140576"/>
                  </a:lnTo>
                  <a:lnTo>
                    <a:pt x="359638" y="147891"/>
                  </a:lnTo>
                  <a:lnTo>
                    <a:pt x="359638" y="165938"/>
                  </a:lnTo>
                  <a:lnTo>
                    <a:pt x="366966" y="173253"/>
                  </a:lnTo>
                  <a:lnTo>
                    <a:pt x="385000" y="173253"/>
                  </a:lnTo>
                  <a:lnTo>
                    <a:pt x="392315" y="165912"/>
                  </a:lnTo>
                  <a:lnTo>
                    <a:pt x="392315" y="156908"/>
                  </a:lnTo>
                  <a:lnTo>
                    <a:pt x="392315" y="147891"/>
                  </a:lnTo>
                  <a:close/>
                </a:path>
                <a:path w="392430" h="243840">
                  <a:moveTo>
                    <a:pt x="392315" y="7302"/>
                  </a:moveTo>
                  <a:lnTo>
                    <a:pt x="385000" y="0"/>
                  </a:lnTo>
                  <a:lnTo>
                    <a:pt x="366941" y="0"/>
                  </a:lnTo>
                  <a:lnTo>
                    <a:pt x="359638" y="7302"/>
                  </a:lnTo>
                  <a:lnTo>
                    <a:pt x="359638" y="25336"/>
                  </a:lnTo>
                  <a:lnTo>
                    <a:pt x="366941" y="32651"/>
                  </a:lnTo>
                  <a:lnTo>
                    <a:pt x="385000" y="32651"/>
                  </a:lnTo>
                  <a:lnTo>
                    <a:pt x="392315" y="25336"/>
                  </a:lnTo>
                  <a:lnTo>
                    <a:pt x="392315" y="16332"/>
                  </a:lnTo>
                  <a:lnTo>
                    <a:pt x="392315" y="7302"/>
                  </a:lnTo>
                  <a:close/>
                </a:path>
              </a:pathLst>
            </a:custGeom>
            <a:solidFill>
              <a:srgbClr val="FFFFFF"/>
            </a:solidFill>
          </p:spPr>
          <p:txBody>
            <a:bodyPr wrap="square" lIns="0" tIns="0" rIns="0" bIns="0" rtlCol="0"/>
            <a:lstStyle/>
            <a:p>
              <a:endParaRPr/>
            </a:p>
          </p:txBody>
        </p:sp>
        <p:sp>
          <p:nvSpPr>
            <p:cNvPr id="147" name="object 36"/>
            <p:cNvSpPr/>
            <p:nvPr/>
          </p:nvSpPr>
          <p:spPr>
            <a:xfrm>
              <a:off x="2612030" y="523528"/>
              <a:ext cx="49530" cy="49530"/>
            </a:xfrm>
            <a:custGeom>
              <a:avLst/>
              <a:gdLst/>
              <a:ahLst/>
              <a:cxnLst/>
              <a:rect l="l" t="t" r="r" b="b"/>
              <a:pathLst>
                <a:path w="49530" h="49529">
                  <a:moveTo>
                    <a:pt x="24479" y="0"/>
                  </a:moveTo>
                  <a:lnTo>
                    <a:pt x="14956" y="1925"/>
                  </a:lnTo>
                  <a:lnTo>
                    <a:pt x="7175" y="7175"/>
                  </a:lnTo>
                  <a:lnTo>
                    <a:pt x="1925" y="14957"/>
                  </a:lnTo>
                  <a:lnTo>
                    <a:pt x="0" y="24479"/>
                  </a:lnTo>
                  <a:lnTo>
                    <a:pt x="1925" y="34018"/>
                  </a:lnTo>
                  <a:lnTo>
                    <a:pt x="7175" y="41800"/>
                  </a:lnTo>
                  <a:lnTo>
                    <a:pt x="14956" y="47044"/>
                  </a:lnTo>
                  <a:lnTo>
                    <a:pt x="24479" y="48966"/>
                  </a:lnTo>
                  <a:lnTo>
                    <a:pt x="34018" y="47044"/>
                  </a:lnTo>
                  <a:lnTo>
                    <a:pt x="41800" y="41800"/>
                  </a:lnTo>
                  <a:lnTo>
                    <a:pt x="47044" y="34018"/>
                  </a:lnTo>
                  <a:lnTo>
                    <a:pt x="48966" y="24479"/>
                  </a:lnTo>
                  <a:lnTo>
                    <a:pt x="47044" y="14957"/>
                  </a:lnTo>
                  <a:lnTo>
                    <a:pt x="41800" y="7175"/>
                  </a:lnTo>
                  <a:lnTo>
                    <a:pt x="34018" y="1925"/>
                  </a:lnTo>
                  <a:lnTo>
                    <a:pt x="24479" y="0"/>
                  </a:lnTo>
                  <a:close/>
                </a:path>
              </a:pathLst>
            </a:custGeom>
            <a:solidFill>
              <a:srgbClr val="ED1342"/>
            </a:solidFill>
          </p:spPr>
          <p:txBody>
            <a:bodyPr wrap="square" lIns="0" tIns="0" rIns="0" bIns="0" rtlCol="0"/>
            <a:lstStyle/>
            <a:p>
              <a:endParaRPr/>
            </a:p>
          </p:txBody>
        </p:sp>
        <p:sp>
          <p:nvSpPr>
            <p:cNvPr id="148" name="object 37"/>
            <p:cNvSpPr/>
            <p:nvPr/>
          </p:nvSpPr>
          <p:spPr>
            <a:xfrm>
              <a:off x="2556675" y="433031"/>
              <a:ext cx="300355" cy="300355"/>
            </a:xfrm>
            <a:custGeom>
              <a:avLst/>
              <a:gdLst/>
              <a:ahLst/>
              <a:cxnLst/>
              <a:rect l="l" t="t" r="r" b="b"/>
              <a:pathLst>
                <a:path w="300355" h="300355">
                  <a:moveTo>
                    <a:pt x="19088" y="215150"/>
                  </a:moveTo>
                  <a:lnTo>
                    <a:pt x="14820" y="210883"/>
                  </a:lnTo>
                  <a:lnTo>
                    <a:pt x="4267" y="210883"/>
                  </a:lnTo>
                  <a:lnTo>
                    <a:pt x="0" y="215150"/>
                  </a:lnTo>
                  <a:lnTo>
                    <a:pt x="0" y="225704"/>
                  </a:lnTo>
                  <a:lnTo>
                    <a:pt x="4267" y="229971"/>
                  </a:lnTo>
                  <a:lnTo>
                    <a:pt x="14820" y="229971"/>
                  </a:lnTo>
                  <a:lnTo>
                    <a:pt x="19088" y="225704"/>
                  </a:lnTo>
                  <a:lnTo>
                    <a:pt x="19088" y="220433"/>
                  </a:lnTo>
                  <a:lnTo>
                    <a:pt x="19088" y="215150"/>
                  </a:lnTo>
                  <a:close/>
                </a:path>
                <a:path w="300355" h="300355">
                  <a:moveTo>
                    <a:pt x="19088" y="144868"/>
                  </a:moveTo>
                  <a:lnTo>
                    <a:pt x="14820" y="140601"/>
                  </a:lnTo>
                  <a:lnTo>
                    <a:pt x="4267" y="140601"/>
                  </a:lnTo>
                  <a:lnTo>
                    <a:pt x="0" y="144868"/>
                  </a:lnTo>
                  <a:lnTo>
                    <a:pt x="0" y="155384"/>
                  </a:lnTo>
                  <a:lnTo>
                    <a:pt x="4267" y="159677"/>
                  </a:lnTo>
                  <a:lnTo>
                    <a:pt x="14820" y="159677"/>
                  </a:lnTo>
                  <a:lnTo>
                    <a:pt x="19088" y="155384"/>
                  </a:lnTo>
                  <a:lnTo>
                    <a:pt x="19088" y="150139"/>
                  </a:lnTo>
                  <a:lnTo>
                    <a:pt x="19088" y="144868"/>
                  </a:lnTo>
                  <a:close/>
                </a:path>
                <a:path w="300355" h="300355">
                  <a:moveTo>
                    <a:pt x="89382" y="39420"/>
                  </a:moveTo>
                  <a:lnTo>
                    <a:pt x="85102" y="35153"/>
                  </a:lnTo>
                  <a:lnTo>
                    <a:pt x="74561" y="35153"/>
                  </a:lnTo>
                  <a:lnTo>
                    <a:pt x="70294" y="39420"/>
                  </a:lnTo>
                  <a:lnTo>
                    <a:pt x="70294" y="49974"/>
                  </a:lnTo>
                  <a:lnTo>
                    <a:pt x="74561" y="54241"/>
                  </a:lnTo>
                  <a:lnTo>
                    <a:pt x="85102" y="54241"/>
                  </a:lnTo>
                  <a:lnTo>
                    <a:pt x="89382" y="49974"/>
                  </a:lnTo>
                  <a:lnTo>
                    <a:pt x="89382" y="44704"/>
                  </a:lnTo>
                  <a:lnTo>
                    <a:pt x="89382" y="39420"/>
                  </a:lnTo>
                  <a:close/>
                </a:path>
                <a:path w="300355" h="300355">
                  <a:moveTo>
                    <a:pt x="159664" y="214655"/>
                  </a:moveTo>
                  <a:lnTo>
                    <a:pt x="155397" y="210388"/>
                  </a:lnTo>
                  <a:lnTo>
                    <a:pt x="144843" y="210388"/>
                  </a:lnTo>
                  <a:lnTo>
                    <a:pt x="140576" y="214655"/>
                  </a:lnTo>
                  <a:lnTo>
                    <a:pt x="140576" y="225209"/>
                  </a:lnTo>
                  <a:lnTo>
                    <a:pt x="144843" y="229476"/>
                  </a:lnTo>
                  <a:lnTo>
                    <a:pt x="155397" y="229476"/>
                  </a:lnTo>
                  <a:lnTo>
                    <a:pt x="159664" y="225209"/>
                  </a:lnTo>
                  <a:lnTo>
                    <a:pt x="159664" y="219925"/>
                  </a:lnTo>
                  <a:lnTo>
                    <a:pt x="159664" y="214655"/>
                  </a:lnTo>
                  <a:close/>
                </a:path>
                <a:path w="300355" h="300355">
                  <a:moveTo>
                    <a:pt x="159664" y="4267"/>
                  </a:moveTo>
                  <a:lnTo>
                    <a:pt x="155397" y="0"/>
                  </a:lnTo>
                  <a:lnTo>
                    <a:pt x="144843" y="0"/>
                  </a:lnTo>
                  <a:lnTo>
                    <a:pt x="140576" y="4267"/>
                  </a:lnTo>
                  <a:lnTo>
                    <a:pt x="140576" y="14808"/>
                  </a:lnTo>
                  <a:lnTo>
                    <a:pt x="144843" y="19075"/>
                  </a:lnTo>
                  <a:lnTo>
                    <a:pt x="155397" y="19075"/>
                  </a:lnTo>
                  <a:lnTo>
                    <a:pt x="159664" y="14808"/>
                  </a:lnTo>
                  <a:lnTo>
                    <a:pt x="159664" y="9537"/>
                  </a:lnTo>
                  <a:lnTo>
                    <a:pt x="159664" y="4267"/>
                  </a:lnTo>
                  <a:close/>
                </a:path>
                <a:path w="300355" h="300355">
                  <a:moveTo>
                    <a:pt x="229984" y="39420"/>
                  </a:moveTo>
                  <a:lnTo>
                    <a:pt x="225704" y="35153"/>
                  </a:lnTo>
                  <a:lnTo>
                    <a:pt x="215138" y="35153"/>
                  </a:lnTo>
                  <a:lnTo>
                    <a:pt x="210896" y="39420"/>
                  </a:lnTo>
                  <a:lnTo>
                    <a:pt x="210896" y="49974"/>
                  </a:lnTo>
                  <a:lnTo>
                    <a:pt x="215138" y="54241"/>
                  </a:lnTo>
                  <a:lnTo>
                    <a:pt x="225704" y="54241"/>
                  </a:lnTo>
                  <a:lnTo>
                    <a:pt x="229984" y="49974"/>
                  </a:lnTo>
                  <a:lnTo>
                    <a:pt x="229984" y="44704"/>
                  </a:lnTo>
                  <a:lnTo>
                    <a:pt x="229984" y="39420"/>
                  </a:lnTo>
                  <a:close/>
                </a:path>
                <a:path w="300355" h="300355">
                  <a:moveTo>
                    <a:pt x="299770" y="285445"/>
                  </a:moveTo>
                  <a:lnTo>
                    <a:pt x="295490" y="281178"/>
                  </a:lnTo>
                  <a:lnTo>
                    <a:pt x="284949" y="281178"/>
                  </a:lnTo>
                  <a:lnTo>
                    <a:pt x="280682" y="285445"/>
                  </a:lnTo>
                  <a:lnTo>
                    <a:pt x="280682" y="295998"/>
                  </a:lnTo>
                  <a:lnTo>
                    <a:pt x="284949" y="300291"/>
                  </a:lnTo>
                  <a:lnTo>
                    <a:pt x="295490" y="300291"/>
                  </a:lnTo>
                  <a:lnTo>
                    <a:pt x="299770" y="295998"/>
                  </a:lnTo>
                  <a:lnTo>
                    <a:pt x="299770" y="290715"/>
                  </a:lnTo>
                  <a:lnTo>
                    <a:pt x="299770" y="285445"/>
                  </a:lnTo>
                  <a:close/>
                </a:path>
              </a:pathLst>
            </a:custGeom>
            <a:solidFill>
              <a:srgbClr val="FFFFFF"/>
            </a:solidFill>
          </p:spPr>
          <p:txBody>
            <a:bodyPr wrap="square" lIns="0" tIns="0" rIns="0" bIns="0" rtlCol="0"/>
            <a:lstStyle/>
            <a:p>
              <a:endParaRPr/>
            </a:p>
          </p:txBody>
        </p:sp>
      </p:grpSp>
      <p:pic>
        <p:nvPicPr>
          <p:cNvPr id="149" name="object 45"/>
          <p:cNvPicPr/>
          <p:nvPr/>
        </p:nvPicPr>
        <p:blipFill>
          <a:blip r:embed="rId2" cstate="print"/>
          <a:stretch>
            <a:fillRect/>
          </a:stretch>
        </p:blipFill>
        <p:spPr>
          <a:xfrm>
            <a:off x="5111496" y="1340057"/>
            <a:ext cx="2011680" cy="159559"/>
          </a:xfrm>
          <a:prstGeom prst="rect">
            <a:avLst/>
          </a:prstGeom>
        </p:spPr>
      </p:pic>
      <p:sp>
        <p:nvSpPr>
          <p:cNvPr id="154" name="Текст 153"/>
          <p:cNvSpPr>
            <a:spLocks noGrp="1"/>
          </p:cNvSpPr>
          <p:nvPr>
            <p:ph type="body" idx="1"/>
          </p:nvPr>
        </p:nvSpPr>
        <p:spPr>
          <a:xfrm>
            <a:off x="923261" y="1483381"/>
            <a:ext cx="10528354" cy="3312445"/>
          </a:xfrm>
        </p:spPr>
        <p:txBody>
          <a:bodyPr/>
          <a:lstStyle/>
          <a:p>
            <a:pPr algn="ctr">
              <a:lnSpc>
                <a:spcPct val="150000"/>
              </a:lnSpc>
            </a:pPr>
            <a:r>
              <a:rPr lang="ru-RU" sz="3200" dirty="0" smtClean="0">
                <a:solidFill>
                  <a:schemeClr val="bg1"/>
                </a:solidFill>
              </a:rPr>
              <a:t>Презентация на тему </a:t>
            </a:r>
          </a:p>
          <a:p>
            <a:pPr algn="ctr">
              <a:lnSpc>
                <a:spcPct val="150000"/>
              </a:lnSpc>
            </a:pPr>
            <a:r>
              <a:rPr lang="ru-RU" sz="3200" dirty="0" smtClean="0">
                <a:solidFill>
                  <a:schemeClr val="bg1"/>
                </a:solidFill>
              </a:rPr>
              <a:t>курсового проекта </a:t>
            </a:r>
          </a:p>
          <a:p>
            <a:pPr algn="ctr">
              <a:lnSpc>
                <a:spcPct val="150000"/>
              </a:lnSpc>
            </a:pPr>
            <a:r>
              <a:rPr lang="en-US" sz="3200" dirty="0" smtClean="0">
                <a:solidFill>
                  <a:schemeClr val="bg1"/>
                </a:solidFill>
              </a:rPr>
              <a:t>«</a:t>
            </a:r>
            <a:r>
              <a:rPr lang="ru-RU" sz="3200" dirty="0" smtClean="0">
                <a:solidFill>
                  <a:schemeClr val="bg1"/>
                </a:solidFill>
              </a:rPr>
              <a:t>Интерактивное управление роботом с помощью жестов руки</a:t>
            </a:r>
            <a:r>
              <a:rPr lang="en-US" sz="3200" dirty="0" smtClean="0">
                <a:solidFill>
                  <a:schemeClr val="bg1"/>
                </a:solidFill>
              </a:rPr>
              <a:t>»</a:t>
            </a:r>
            <a:endParaRPr lang="ru-RU" sz="3200" dirty="0" smtClean="0">
              <a:solidFill>
                <a:schemeClr val="bg1"/>
              </a:solidFill>
            </a:endParaRPr>
          </a:p>
          <a:p>
            <a:pPr algn="ctr"/>
            <a:endParaRPr lang="ru-RU" dirty="0">
              <a:solidFill>
                <a:schemeClr val="bg1"/>
              </a:solidFill>
            </a:endParaRPr>
          </a:p>
        </p:txBody>
      </p:sp>
      <p:sp>
        <p:nvSpPr>
          <p:cNvPr id="156" name="Текст 153"/>
          <p:cNvSpPr txBox="1">
            <a:spLocks/>
          </p:cNvSpPr>
          <p:nvPr/>
        </p:nvSpPr>
        <p:spPr>
          <a:xfrm>
            <a:off x="950693" y="4336309"/>
            <a:ext cx="10528354" cy="2308324"/>
          </a:xfrm>
          <a:prstGeom prst="rect">
            <a:avLst/>
          </a:prstGeom>
        </p:spPr>
        <p:txBody>
          <a:bodyPr wrap="square" lIns="0" tIns="0" rIns="0" bIns="0">
            <a:spAutoFit/>
          </a:bodyPr>
          <a:lstStyle>
            <a:lvl1pPr marL="0" eaLnBrk="1" hangingPunct="1">
              <a:defRPr sz="2325" b="0" i="0">
                <a:solidFill>
                  <a:schemeClr val="tx1"/>
                </a:solidFill>
                <a:latin typeface="Tahoma"/>
                <a:ea typeface="+mn-ea"/>
                <a:cs typeface="Tahoma"/>
              </a:defRPr>
            </a:lvl1pPr>
            <a:lvl2pPr marL="966292" eaLnBrk="1" hangingPunct="1">
              <a:defRPr>
                <a:latin typeface="+mn-lt"/>
                <a:ea typeface="+mn-ea"/>
                <a:cs typeface="+mn-cs"/>
              </a:defRPr>
            </a:lvl2pPr>
            <a:lvl3pPr marL="1932584" eaLnBrk="1" hangingPunct="1">
              <a:defRPr>
                <a:latin typeface="+mn-lt"/>
                <a:ea typeface="+mn-ea"/>
                <a:cs typeface="+mn-cs"/>
              </a:defRPr>
            </a:lvl3pPr>
            <a:lvl4pPr marL="2898877" eaLnBrk="1" hangingPunct="1">
              <a:defRPr>
                <a:latin typeface="+mn-lt"/>
                <a:ea typeface="+mn-ea"/>
                <a:cs typeface="+mn-cs"/>
              </a:defRPr>
            </a:lvl4pPr>
            <a:lvl5pPr marL="3865169" eaLnBrk="1" hangingPunct="1">
              <a:defRPr>
                <a:latin typeface="+mn-lt"/>
                <a:ea typeface="+mn-ea"/>
                <a:cs typeface="+mn-cs"/>
              </a:defRPr>
            </a:lvl5pPr>
            <a:lvl6pPr marL="4831461" eaLnBrk="1" hangingPunct="1">
              <a:defRPr>
                <a:latin typeface="+mn-lt"/>
                <a:ea typeface="+mn-ea"/>
                <a:cs typeface="+mn-cs"/>
              </a:defRPr>
            </a:lvl6pPr>
            <a:lvl7pPr marL="5797753" eaLnBrk="1" hangingPunct="1">
              <a:defRPr>
                <a:latin typeface="+mn-lt"/>
                <a:ea typeface="+mn-ea"/>
                <a:cs typeface="+mn-cs"/>
              </a:defRPr>
            </a:lvl7pPr>
            <a:lvl8pPr marL="6764045" eaLnBrk="1" hangingPunct="1">
              <a:defRPr>
                <a:latin typeface="+mn-lt"/>
                <a:ea typeface="+mn-ea"/>
                <a:cs typeface="+mn-cs"/>
              </a:defRPr>
            </a:lvl8pPr>
            <a:lvl9pPr marL="7730338" eaLnBrk="1" hangingPunct="1">
              <a:defRPr>
                <a:latin typeface="+mn-lt"/>
                <a:ea typeface="+mn-ea"/>
                <a:cs typeface="+mn-cs"/>
              </a:defRPr>
            </a:lvl9pPr>
          </a:lstStyle>
          <a:p>
            <a:pPr algn="r">
              <a:lnSpc>
                <a:spcPct val="150000"/>
              </a:lnSpc>
            </a:pPr>
            <a:r>
              <a:rPr lang="ru-RU" sz="2000" dirty="0" smtClean="0">
                <a:solidFill>
                  <a:schemeClr val="bg1"/>
                </a:solidFill>
              </a:rPr>
              <a:t>Подготовили: </a:t>
            </a:r>
            <a:r>
              <a:rPr lang="ru-RU" sz="2000" dirty="0" smtClean="0">
                <a:solidFill>
                  <a:schemeClr val="bg1"/>
                </a:solidFill>
              </a:rPr>
              <a:t>ст. гр. </a:t>
            </a:r>
            <a:r>
              <a:rPr lang="en-US" sz="2000" dirty="0" smtClean="0">
                <a:solidFill>
                  <a:schemeClr val="bg1"/>
                </a:solidFill>
              </a:rPr>
              <a:t>R4133</a:t>
            </a:r>
            <a:r>
              <a:rPr lang="ru-RU" sz="2000" dirty="0" smtClean="0">
                <a:solidFill>
                  <a:schemeClr val="bg1"/>
                </a:solidFill>
              </a:rPr>
              <a:t>с и</a:t>
            </a:r>
            <a:r>
              <a:rPr lang="en-US" sz="2000" dirty="0" smtClean="0">
                <a:solidFill>
                  <a:schemeClr val="bg1"/>
                </a:solidFill>
              </a:rPr>
              <a:t> </a:t>
            </a:r>
            <a:r>
              <a:rPr lang="en-US" sz="2000" dirty="0" smtClean="0">
                <a:solidFill>
                  <a:schemeClr val="bg1"/>
                </a:solidFill>
              </a:rPr>
              <a:t>R4236c</a:t>
            </a:r>
            <a:endParaRPr lang="en-US" sz="2000" dirty="0" smtClean="0">
              <a:solidFill>
                <a:schemeClr val="bg1"/>
              </a:solidFill>
            </a:endParaRPr>
          </a:p>
          <a:p>
            <a:pPr algn="r">
              <a:lnSpc>
                <a:spcPct val="150000"/>
              </a:lnSpc>
            </a:pPr>
            <a:r>
              <a:rPr lang="ru-RU" sz="2000" dirty="0" smtClean="0">
                <a:solidFill>
                  <a:schemeClr val="bg1"/>
                </a:solidFill>
              </a:rPr>
              <a:t>Стадников Д.И</a:t>
            </a:r>
            <a:r>
              <a:rPr lang="ru-RU" sz="2000" dirty="0" smtClean="0">
                <a:solidFill>
                  <a:schemeClr val="bg1"/>
                </a:solidFill>
              </a:rPr>
              <a:t>.</a:t>
            </a:r>
            <a:endParaRPr lang="en-US" sz="2000" dirty="0" smtClean="0">
              <a:solidFill>
                <a:schemeClr val="bg1"/>
              </a:solidFill>
            </a:endParaRPr>
          </a:p>
          <a:p>
            <a:pPr algn="r">
              <a:lnSpc>
                <a:spcPct val="150000"/>
              </a:lnSpc>
            </a:pPr>
            <a:r>
              <a:rPr lang="ru-RU" sz="2000" dirty="0" err="1">
                <a:solidFill>
                  <a:schemeClr val="bg1"/>
                </a:solidFill>
              </a:rPr>
              <a:t>К</a:t>
            </a:r>
            <a:r>
              <a:rPr lang="ru-RU" sz="2000" smtClean="0">
                <a:solidFill>
                  <a:schemeClr val="bg1"/>
                </a:solidFill>
              </a:rPr>
              <a:t>улить</a:t>
            </a:r>
            <a:r>
              <a:rPr lang="ru-RU" sz="2000" dirty="0" smtClean="0">
                <a:solidFill>
                  <a:schemeClr val="bg1"/>
                </a:solidFill>
              </a:rPr>
              <a:t> Г.В.</a:t>
            </a:r>
            <a:endParaRPr lang="ru-RU" sz="2000" dirty="0" smtClean="0">
              <a:solidFill>
                <a:schemeClr val="bg1"/>
              </a:solidFill>
            </a:endParaRPr>
          </a:p>
          <a:p>
            <a:pPr algn="r">
              <a:lnSpc>
                <a:spcPct val="150000"/>
              </a:lnSpc>
            </a:pPr>
            <a:r>
              <a:rPr lang="ru-RU" sz="2000" dirty="0" smtClean="0">
                <a:solidFill>
                  <a:schemeClr val="bg1"/>
                </a:solidFill>
              </a:rPr>
              <a:t>Проверил: д.т.н., </a:t>
            </a:r>
            <a:r>
              <a:rPr lang="ru-RU" sz="2000" dirty="0">
                <a:solidFill>
                  <a:schemeClr val="bg1"/>
                </a:solidFill>
              </a:rPr>
              <a:t>п</a:t>
            </a:r>
            <a:r>
              <a:rPr lang="ru-RU" sz="2000" dirty="0" smtClean="0">
                <a:solidFill>
                  <a:schemeClr val="bg1"/>
                </a:solidFill>
              </a:rPr>
              <a:t>рофессор </a:t>
            </a:r>
          </a:p>
          <a:p>
            <a:pPr algn="r">
              <a:lnSpc>
                <a:spcPct val="150000"/>
              </a:lnSpc>
            </a:pPr>
            <a:r>
              <a:rPr lang="ru-RU" sz="2000" dirty="0" err="1" smtClean="0">
                <a:solidFill>
                  <a:schemeClr val="bg1"/>
                </a:solidFill>
              </a:rPr>
              <a:t>Колюбин</a:t>
            </a:r>
            <a:r>
              <a:rPr lang="ru-RU" sz="2000" dirty="0" smtClean="0">
                <a:solidFill>
                  <a:schemeClr val="bg1"/>
                </a:solidFill>
              </a:rPr>
              <a:t> С.А.</a:t>
            </a:r>
            <a:endParaRPr lang="ru-RU" sz="2000" dirty="0">
              <a:solidFill>
                <a:schemeClr val="bg1"/>
              </a:solidFill>
            </a:endParaRPr>
          </a:p>
        </p:txBody>
      </p:sp>
    </p:spTree>
    <p:extLst>
      <p:ext uri="{BB962C8B-B14F-4D97-AF65-F5344CB8AC3E}">
        <p14:creationId xmlns:p14="http://schemas.microsoft.com/office/powerpoint/2010/main" val="23997246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280313" y="112046"/>
            <a:ext cx="8911687" cy="1280890"/>
          </a:xfrm>
        </p:spPr>
        <p:txBody>
          <a:bodyPr/>
          <a:lstStyle/>
          <a:p>
            <a:r>
              <a:rPr lang="ru-RU" dirty="0"/>
              <a:t>Анализ и постановка проблемы</a:t>
            </a:r>
          </a:p>
        </p:txBody>
      </p:sp>
      <p:sp>
        <p:nvSpPr>
          <p:cNvPr id="3" name="Объект 2"/>
          <p:cNvSpPr>
            <a:spLocks noGrp="1"/>
          </p:cNvSpPr>
          <p:nvPr>
            <p:ph type="body" idx="1"/>
          </p:nvPr>
        </p:nvSpPr>
        <p:spPr>
          <a:xfrm>
            <a:off x="923544" y="795528"/>
            <a:ext cx="10451592" cy="5786199"/>
          </a:xfrm>
        </p:spPr>
        <p:txBody>
          <a:bodyPr/>
          <a:lstStyle/>
          <a:p>
            <a:pPr>
              <a:lnSpc>
                <a:spcPct val="150000"/>
              </a:lnSpc>
            </a:pPr>
            <a:r>
              <a:rPr lang="ru-RU" sz="1600" b="1" dirty="0" smtClean="0">
                <a:solidFill>
                  <a:schemeClr val="tx1"/>
                </a:solidFill>
              </a:rPr>
              <a:t>Управление </a:t>
            </a:r>
            <a:r>
              <a:rPr lang="ru-RU" sz="1600" b="1" dirty="0">
                <a:solidFill>
                  <a:schemeClr val="tx1"/>
                </a:solidFill>
              </a:rPr>
              <a:t>жестами </a:t>
            </a:r>
            <a:r>
              <a:rPr lang="ru-RU" sz="1600" dirty="0">
                <a:solidFill>
                  <a:schemeClr val="tx1"/>
                </a:solidFill>
              </a:rPr>
              <a:t>— одно из наиболее перспективных направлений, </a:t>
            </a:r>
            <a:r>
              <a:rPr lang="ru-RU" sz="1600" dirty="0" smtClean="0">
                <a:solidFill>
                  <a:schemeClr val="tx1"/>
                </a:solidFill>
              </a:rPr>
              <a:t>которое позволяет </a:t>
            </a:r>
            <a:r>
              <a:rPr lang="ru-RU" sz="1600" dirty="0">
                <a:solidFill>
                  <a:schemeClr val="tx1"/>
                </a:solidFill>
              </a:rPr>
              <a:t>создать естественный и интуитивно понятный способ взаимодействия с роботами и устройствами. Применение таких технологий находит отклик в широком спектре </a:t>
            </a:r>
            <a:r>
              <a:rPr lang="ru-RU" sz="1600" dirty="0" smtClean="0">
                <a:solidFill>
                  <a:schemeClr val="tx1"/>
                </a:solidFill>
              </a:rPr>
              <a:t>областей.</a:t>
            </a:r>
          </a:p>
          <a:p>
            <a:endParaRPr lang="ru-RU" sz="1600" b="1" dirty="0" smtClean="0">
              <a:solidFill>
                <a:schemeClr val="tx1"/>
              </a:solidFill>
            </a:endParaRPr>
          </a:p>
          <a:p>
            <a:pPr>
              <a:lnSpc>
                <a:spcPct val="150000"/>
              </a:lnSpc>
            </a:pPr>
            <a:r>
              <a:rPr lang="ru-RU" sz="1600" b="1" dirty="0" smtClean="0">
                <a:solidFill>
                  <a:schemeClr val="tx1"/>
                </a:solidFill>
              </a:rPr>
              <a:t>Цель </a:t>
            </a:r>
            <a:r>
              <a:rPr lang="ru-RU" sz="1600" b="1" dirty="0">
                <a:solidFill>
                  <a:schemeClr val="tx1"/>
                </a:solidFill>
              </a:rPr>
              <a:t>и задачи </a:t>
            </a:r>
            <a:r>
              <a:rPr lang="ru-RU" sz="1600" b="1" dirty="0" smtClean="0">
                <a:solidFill>
                  <a:schemeClr val="tx1"/>
                </a:solidFill>
              </a:rPr>
              <a:t>работы: </a:t>
            </a:r>
          </a:p>
          <a:p>
            <a:pPr>
              <a:lnSpc>
                <a:spcPct val="150000"/>
              </a:lnSpc>
            </a:pPr>
            <a:r>
              <a:rPr lang="ru-RU" sz="1600" dirty="0" smtClean="0">
                <a:solidFill>
                  <a:schemeClr val="tx1"/>
                </a:solidFill>
              </a:rPr>
              <a:t>Цель </a:t>
            </a:r>
            <a:r>
              <a:rPr lang="ru-RU" sz="1600" dirty="0">
                <a:solidFill>
                  <a:schemeClr val="tx1"/>
                </a:solidFill>
              </a:rPr>
              <a:t>данной работы состоит в разработке системы управления роботом с помощью жестов, включающей обучение классификационной модели для распознавания жестов и симуляцию движения робота на 2D гриде</a:t>
            </a:r>
            <a:r>
              <a:rPr lang="ru-RU" sz="1600" dirty="0" smtClean="0">
                <a:solidFill>
                  <a:schemeClr val="tx1"/>
                </a:solidFill>
              </a:rPr>
              <a:t>.</a:t>
            </a:r>
          </a:p>
          <a:p>
            <a:r>
              <a:rPr lang="ru-RU" sz="1600" dirty="0" smtClean="0">
                <a:solidFill>
                  <a:schemeClr val="tx1"/>
                </a:solidFill>
              </a:rPr>
              <a:t> </a:t>
            </a:r>
          </a:p>
          <a:p>
            <a:pPr>
              <a:lnSpc>
                <a:spcPct val="150000"/>
              </a:lnSpc>
            </a:pPr>
            <a:r>
              <a:rPr lang="ru-RU" sz="1600" b="1" dirty="0" smtClean="0">
                <a:solidFill>
                  <a:schemeClr val="tx1"/>
                </a:solidFill>
              </a:rPr>
              <a:t>Для </a:t>
            </a:r>
            <a:r>
              <a:rPr lang="ru-RU" sz="1600" b="1" dirty="0">
                <a:solidFill>
                  <a:schemeClr val="tx1"/>
                </a:solidFill>
              </a:rPr>
              <a:t>достижения поставленной цели необходимо выполнить следующие задачи: </a:t>
            </a:r>
            <a:endParaRPr lang="ru-RU" sz="1600" b="1" dirty="0" smtClean="0">
              <a:solidFill>
                <a:schemeClr val="tx1"/>
              </a:solidFill>
            </a:endParaRPr>
          </a:p>
          <a:p>
            <a:pPr marL="285750" indent="-285750">
              <a:lnSpc>
                <a:spcPct val="150000"/>
              </a:lnSpc>
              <a:buFont typeface="Arial" panose="020B0604020202020204" pitchFamily="34" charset="0"/>
              <a:buChar char="•"/>
            </a:pPr>
            <a:r>
              <a:rPr lang="ru-RU" sz="1600" dirty="0" smtClean="0">
                <a:solidFill>
                  <a:schemeClr val="tx1"/>
                </a:solidFill>
              </a:rPr>
              <a:t>Найти </a:t>
            </a:r>
            <a:r>
              <a:rPr lang="ru-RU" sz="1600" dirty="0">
                <a:solidFill>
                  <a:schemeClr val="tx1"/>
                </a:solidFill>
              </a:rPr>
              <a:t>и пред обработать набор данных для обучения </a:t>
            </a:r>
            <a:r>
              <a:rPr lang="ru-RU" sz="1600" dirty="0" smtClean="0">
                <a:solidFill>
                  <a:schemeClr val="tx1"/>
                </a:solidFill>
              </a:rPr>
              <a:t>модели; </a:t>
            </a:r>
          </a:p>
          <a:p>
            <a:pPr marL="285750" indent="-285750">
              <a:lnSpc>
                <a:spcPct val="150000"/>
              </a:lnSpc>
              <a:buFont typeface="Arial" panose="020B0604020202020204" pitchFamily="34" charset="0"/>
              <a:buChar char="•"/>
            </a:pPr>
            <a:r>
              <a:rPr lang="ru-RU" sz="1600" dirty="0" smtClean="0">
                <a:solidFill>
                  <a:schemeClr val="tx1"/>
                </a:solidFill>
              </a:rPr>
              <a:t>Разработать </a:t>
            </a:r>
            <a:r>
              <a:rPr lang="ru-RU" sz="1600" dirty="0">
                <a:solidFill>
                  <a:schemeClr val="tx1"/>
                </a:solidFill>
              </a:rPr>
              <a:t>и обучить </a:t>
            </a:r>
            <a:r>
              <a:rPr lang="ru-RU" sz="1600" dirty="0" err="1">
                <a:solidFill>
                  <a:schemeClr val="tx1"/>
                </a:solidFill>
              </a:rPr>
              <a:t>сверточную</a:t>
            </a:r>
            <a:r>
              <a:rPr lang="ru-RU" sz="1600" dirty="0">
                <a:solidFill>
                  <a:schemeClr val="tx1"/>
                </a:solidFill>
              </a:rPr>
              <a:t> нейронную сеть для распознавания </a:t>
            </a:r>
            <a:r>
              <a:rPr lang="ru-RU" sz="1600" dirty="0" smtClean="0">
                <a:solidFill>
                  <a:schemeClr val="tx1"/>
                </a:solidFill>
              </a:rPr>
              <a:t>жестов</a:t>
            </a:r>
            <a:r>
              <a:rPr lang="ru-RU" sz="1600" dirty="0" smtClean="0"/>
              <a:t>;</a:t>
            </a:r>
            <a:r>
              <a:rPr lang="ru-RU" sz="1600" dirty="0" smtClean="0">
                <a:solidFill>
                  <a:schemeClr val="tx1"/>
                </a:solidFill>
              </a:rPr>
              <a:t> </a:t>
            </a:r>
          </a:p>
          <a:p>
            <a:pPr marL="285750" indent="-285750">
              <a:lnSpc>
                <a:spcPct val="150000"/>
              </a:lnSpc>
              <a:buFont typeface="Arial" panose="020B0604020202020204" pitchFamily="34" charset="0"/>
              <a:buChar char="•"/>
            </a:pPr>
            <a:r>
              <a:rPr lang="ru-RU" sz="1600" dirty="0" smtClean="0">
                <a:solidFill>
                  <a:schemeClr val="tx1"/>
                </a:solidFill>
              </a:rPr>
              <a:t>Создать </a:t>
            </a:r>
            <a:r>
              <a:rPr lang="ru-RU" sz="1600" dirty="0">
                <a:solidFill>
                  <a:schemeClr val="tx1"/>
                </a:solidFill>
              </a:rPr>
              <a:t>симуляцию движения робота на 2D гриде, обеспечивающую выполнение команд, поступающих от модели классификации и </a:t>
            </a:r>
            <a:r>
              <a:rPr lang="ru-RU" sz="1600" dirty="0" err="1">
                <a:solidFill>
                  <a:schemeClr val="tx1"/>
                </a:solidFill>
              </a:rPr>
              <a:t>фреймворка</a:t>
            </a:r>
            <a:r>
              <a:rPr lang="ru-RU" sz="1600" dirty="0">
                <a:solidFill>
                  <a:schemeClr val="tx1"/>
                </a:solidFill>
              </a:rPr>
              <a:t> </a:t>
            </a:r>
            <a:r>
              <a:rPr lang="ru-RU" sz="1600" dirty="0" err="1" smtClean="0">
                <a:solidFill>
                  <a:schemeClr val="tx1"/>
                </a:solidFill>
              </a:rPr>
              <a:t>MediaPipe</a:t>
            </a:r>
            <a:r>
              <a:rPr lang="ru-RU" sz="1600" dirty="0" smtClean="0"/>
              <a:t>;</a:t>
            </a:r>
            <a:r>
              <a:rPr lang="ru-RU" sz="1600" dirty="0" smtClean="0">
                <a:solidFill>
                  <a:schemeClr val="tx1"/>
                </a:solidFill>
              </a:rPr>
              <a:t> </a:t>
            </a:r>
          </a:p>
          <a:p>
            <a:pPr marL="285750" indent="-285750">
              <a:lnSpc>
                <a:spcPct val="150000"/>
              </a:lnSpc>
              <a:buFont typeface="Arial" panose="020B0604020202020204" pitchFamily="34" charset="0"/>
              <a:buChar char="•"/>
            </a:pPr>
            <a:r>
              <a:rPr lang="ru-RU" sz="1600" dirty="0" smtClean="0">
                <a:solidFill>
                  <a:schemeClr val="tx1"/>
                </a:solidFill>
              </a:rPr>
              <a:t>Интегрировать </a:t>
            </a:r>
            <a:r>
              <a:rPr lang="ru-RU" sz="1600" dirty="0">
                <a:solidFill>
                  <a:schemeClr val="tx1"/>
                </a:solidFill>
              </a:rPr>
              <a:t>классификационную модель и </a:t>
            </a:r>
            <a:r>
              <a:rPr lang="ru-RU" sz="1600" dirty="0" smtClean="0">
                <a:solidFill>
                  <a:schemeClr val="tx1"/>
                </a:solidFill>
              </a:rPr>
              <a:t>симуляцию</a:t>
            </a:r>
            <a:r>
              <a:rPr lang="ru-RU" sz="1600" dirty="0" smtClean="0"/>
              <a:t>;</a:t>
            </a:r>
            <a:r>
              <a:rPr lang="ru-RU" sz="1600" dirty="0" smtClean="0">
                <a:solidFill>
                  <a:schemeClr val="tx1"/>
                </a:solidFill>
              </a:rPr>
              <a:t> </a:t>
            </a:r>
          </a:p>
          <a:p>
            <a:pPr marL="285750" indent="-285750">
              <a:lnSpc>
                <a:spcPct val="150000"/>
              </a:lnSpc>
              <a:buFont typeface="Arial" panose="020B0604020202020204" pitchFamily="34" charset="0"/>
              <a:buChar char="•"/>
            </a:pPr>
            <a:r>
              <a:rPr lang="ru-RU" sz="1600" dirty="0" smtClean="0">
                <a:solidFill>
                  <a:schemeClr val="tx1"/>
                </a:solidFill>
              </a:rPr>
              <a:t>Провести </a:t>
            </a:r>
            <a:r>
              <a:rPr lang="ru-RU" sz="1600" dirty="0">
                <a:solidFill>
                  <a:schemeClr val="tx1"/>
                </a:solidFill>
              </a:rPr>
              <a:t>тестирование системы и проанализировать её </a:t>
            </a:r>
            <a:r>
              <a:rPr lang="ru-RU" sz="1600" dirty="0" smtClean="0">
                <a:solidFill>
                  <a:schemeClr val="tx1"/>
                </a:solidFill>
              </a:rPr>
              <a:t>результаты</a:t>
            </a:r>
            <a:r>
              <a:rPr lang="ru-RU" sz="1600" dirty="0"/>
              <a:t>;</a:t>
            </a:r>
            <a:endParaRPr lang="ru-RU" sz="1600" dirty="0" smtClean="0">
              <a:solidFill>
                <a:schemeClr val="tx1"/>
              </a:solidFill>
            </a:endParaRPr>
          </a:p>
          <a:p>
            <a:pPr marL="285750" indent="-285750">
              <a:lnSpc>
                <a:spcPct val="150000"/>
              </a:lnSpc>
              <a:buFont typeface="Arial" panose="020B0604020202020204" pitchFamily="34" charset="0"/>
              <a:buChar char="•"/>
            </a:pPr>
            <a:r>
              <a:rPr lang="ru-RU" sz="1600" dirty="0" smtClean="0">
                <a:solidFill>
                  <a:schemeClr val="tx1"/>
                </a:solidFill>
              </a:rPr>
              <a:t>Провести </a:t>
            </a:r>
            <a:r>
              <a:rPr lang="ru-RU" sz="1600" dirty="0">
                <a:solidFill>
                  <a:schemeClr val="tx1"/>
                </a:solidFill>
              </a:rPr>
              <a:t>сравнительный анализ двух </a:t>
            </a:r>
            <a:r>
              <a:rPr lang="ru-RU" sz="1600" dirty="0" smtClean="0">
                <a:solidFill>
                  <a:schemeClr val="tx1"/>
                </a:solidFill>
              </a:rPr>
              <a:t>методов.</a:t>
            </a:r>
            <a:endParaRPr lang="ru-RU" sz="1600" dirty="0">
              <a:solidFill>
                <a:schemeClr val="tx1"/>
              </a:solidFill>
            </a:endParaRPr>
          </a:p>
        </p:txBody>
      </p:sp>
    </p:spTree>
    <p:extLst>
      <p:ext uri="{BB962C8B-B14F-4D97-AF65-F5344CB8AC3E}">
        <p14:creationId xmlns:p14="http://schemas.microsoft.com/office/powerpoint/2010/main" val="30779038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073796" y="64008"/>
            <a:ext cx="10968852" cy="910762"/>
          </a:xfrm>
        </p:spPr>
        <p:txBody>
          <a:bodyPr/>
          <a:lstStyle/>
          <a:p>
            <a:r>
              <a:rPr lang="ru-RU"/>
              <a:t>Обзор современных методов и подходов к решению задачи </a:t>
            </a:r>
          </a:p>
        </p:txBody>
      </p:sp>
      <p:sp>
        <p:nvSpPr>
          <p:cNvPr id="3" name="Подзаголовок 2"/>
          <p:cNvSpPr>
            <a:spLocks noGrp="1"/>
          </p:cNvSpPr>
          <p:nvPr>
            <p:ph type="subTitle" idx="4"/>
          </p:nvPr>
        </p:nvSpPr>
        <p:spPr>
          <a:xfrm>
            <a:off x="777240" y="643366"/>
            <a:ext cx="10506456" cy="5909310"/>
          </a:xfrm>
        </p:spPr>
        <p:txBody>
          <a:bodyPr/>
          <a:lstStyle/>
          <a:p>
            <a:pPr>
              <a:lnSpc>
                <a:spcPct val="150000"/>
              </a:lnSpc>
            </a:pPr>
            <a:r>
              <a:rPr lang="ru-RU" sz="1600" b="1" dirty="0" smtClean="0"/>
              <a:t>Традиционные </a:t>
            </a:r>
            <a:r>
              <a:rPr lang="ru-RU" sz="1600" b="1" dirty="0"/>
              <a:t>подходы включают: </a:t>
            </a:r>
            <a:endParaRPr lang="ru-RU" sz="1600" b="1" dirty="0" smtClean="0"/>
          </a:p>
          <a:p>
            <a:pPr marL="285750" indent="-285750">
              <a:lnSpc>
                <a:spcPct val="150000"/>
              </a:lnSpc>
              <a:buFont typeface="Arial" panose="020B0604020202020204" pitchFamily="34" charset="0"/>
              <a:buChar char="•"/>
            </a:pPr>
            <a:r>
              <a:rPr lang="ru-RU" sz="1600" dirty="0" smtClean="0"/>
              <a:t>Клавиатурное </a:t>
            </a:r>
            <a:r>
              <a:rPr lang="ru-RU" sz="1600" dirty="0"/>
              <a:t>и </a:t>
            </a:r>
            <a:r>
              <a:rPr lang="ru-RU" sz="1600" dirty="0" err="1"/>
              <a:t>джойстиковое</a:t>
            </a:r>
            <a:r>
              <a:rPr lang="ru-RU" sz="1600" dirty="0"/>
              <a:t> </a:t>
            </a:r>
            <a:r>
              <a:rPr lang="ru-RU" sz="1600" dirty="0" smtClean="0"/>
              <a:t>управление;</a:t>
            </a:r>
            <a:endParaRPr lang="ru-RU" sz="1600" dirty="0"/>
          </a:p>
          <a:p>
            <a:pPr marL="285750" indent="-285750">
              <a:lnSpc>
                <a:spcPct val="150000"/>
              </a:lnSpc>
              <a:buFont typeface="Arial" panose="020B0604020202020204" pitchFamily="34" charset="0"/>
              <a:buChar char="•"/>
            </a:pPr>
            <a:r>
              <a:rPr lang="ru-RU" sz="1600" dirty="0" smtClean="0"/>
              <a:t>Дистанционное </a:t>
            </a:r>
            <a:r>
              <a:rPr lang="ru-RU" sz="1600" dirty="0"/>
              <a:t>управление с помощью радиосигналов или </a:t>
            </a:r>
            <a:r>
              <a:rPr lang="ru-RU" sz="1600" dirty="0" err="1" smtClean="0"/>
              <a:t>Wi-Fi</a:t>
            </a:r>
            <a:r>
              <a:rPr lang="ru-RU" sz="1600" dirty="0" smtClean="0"/>
              <a:t>; </a:t>
            </a:r>
          </a:p>
          <a:p>
            <a:pPr marL="285750" indent="-285750">
              <a:lnSpc>
                <a:spcPct val="150000"/>
              </a:lnSpc>
              <a:buFont typeface="Arial" panose="020B0604020202020204" pitchFamily="34" charset="0"/>
              <a:buChar char="•"/>
            </a:pPr>
            <a:r>
              <a:rPr lang="ru-RU" sz="1600" dirty="0" smtClean="0"/>
              <a:t>Голосовое управление.</a:t>
            </a:r>
          </a:p>
          <a:p>
            <a:pPr>
              <a:lnSpc>
                <a:spcPct val="150000"/>
              </a:lnSpc>
            </a:pPr>
            <a:r>
              <a:rPr lang="ru-RU" sz="1600" b="1" dirty="0"/>
              <a:t>Классификация жестов и использование </a:t>
            </a:r>
            <a:r>
              <a:rPr lang="ru-RU" sz="1600" b="1" dirty="0" smtClean="0"/>
              <a:t>CNN: </a:t>
            </a:r>
          </a:p>
          <a:p>
            <a:pPr>
              <a:lnSpc>
                <a:spcPct val="150000"/>
              </a:lnSpc>
            </a:pPr>
            <a:r>
              <a:rPr lang="ru-RU" sz="1600" dirty="0"/>
              <a:t>Распознавание жестов — это задача классификации, которая включает в себя обработку и анализ изображений или видео</a:t>
            </a:r>
            <a:r>
              <a:rPr lang="ru-RU" sz="1600" dirty="0" smtClean="0"/>
              <a:t>.</a:t>
            </a:r>
          </a:p>
          <a:p>
            <a:pPr>
              <a:lnSpc>
                <a:spcPct val="150000"/>
              </a:lnSpc>
            </a:pPr>
            <a:r>
              <a:rPr lang="ru-RU" sz="1600" b="1" dirty="0" smtClean="0"/>
              <a:t>Классические подходы распознавания:</a:t>
            </a:r>
          </a:p>
          <a:p>
            <a:pPr marL="285750" indent="-285750">
              <a:lnSpc>
                <a:spcPct val="150000"/>
              </a:lnSpc>
              <a:buFont typeface="Arial" panose="020B0604020202020204" pitchFamily="34" charset="0"/>
              <a:buChar char="•"/>
            </a:pPr>
            <a:r>
              <a:rPr lang="en-US" sz="1600" dirty="0" smtClean="0"/>
              <a:t>SIFT</a:t>
            </a:r>
            <a:r>
              <a:rPr lang="ru-RU" sz="1600" dirty="0" smtClean="0"/>
              <a:t>;</a:t>
            </a:r>
            <a:endParaRPr lang="en-US" sz="1600" dirty="0" smtClean="0"/>
          </a:p>
          <a:p>
            <a:pPr marL="285750" indent="-285750">
              <a:lnSpc>
                <a:spcPct val="150000"/>
              </a:lnSpc>
              <a:buFont typeface="Arial" panose="020B0604020202020204" pitchFamily="34" charset="0"/>
              <a:buChar char="•"/>
            </a:pPr>
            <a:r>
              <a:rPr lang="en-US" sz="1600" dirty="0" smtClean="0"/>
              <a:t>H</a:t>
            </a:r>
            <a:r>
              <a:rPr lang="ru-RU" sz="1600" dirty="0"/>
              <a:t>О</a:t>
            </a:r>
            <a:r>
              <a:rPr lang="en-US" sz="1600" dirty="0" smtClean="0"/>
              <a:t>G</a:t>
            </a:r>
            <a:r>
              <a:rPr lang="ru-RU" sz="1600" dirty="0" smtClean="0"/>
              <a:t>;</a:t>
            </a:r>
            <a:endParaRPr lang="en-US" sz="1600" dirty="0" smtClean="0"/>
          </a:p>
          <a:p>
            <a:pPr marL="285750" indent="-285750">
              <a:lnSpc>
                <a:spcPct val="150000"/>
              </a:lnSpc>
              <a:buFont typeface="Arial" panose="020B0604020202020204" pitchFamily="34" charset="0"/>
              <a:buChar char="•"/>
            </a:pPr>
            <a:r>
              <a:rPr lang="en-US" sz="1600" dirty="0" err="1" smtClean="0"/>
              <a:t>Haar</a:t>
            </a:r>
            <a:r>
              <a:rPr lang="en-US" sz="1600" dirty="0" smtClean="0"/>
              <a:t> – </a:t>
            </a:r>
            <a:r>
              <a:rPr lang="ru-RU" sz="1600" dirty="0" smtClean="0"/>
              <a:t>признаки.</a:t>
            </a:r>
          </a:p>
          <a:p>
            <a:pPr>
              <a:lnSpc>
                <a:spcPct val="150000"/>
              </a:lnSpc>
            </a:pPr>
            <a:r>
              <a:rPr lang="ru-RU" sz="1600" b="1" dirty="0"/>
              <a:t>Современные </a:t>
            </a:r>
            <a:r>
              <a:rPr lang="ru-RU" sz="1600" b="1" dirty="0" smtClean="0"/>
              <a:t>методы распознавания: </a:t>
            </a:r>
            <a:r>
              <a:rPr lang="ru-RU" sz="1600" dirty="0"/>
              <a:t>использование глубоких нейронных сетей, таких как CNN, позволяет обрабатывать изображения напрямую, автоматически выделяя важные признаки. </a:t>
            </a:r>
            <a:endParaRPr lang="ru-RU" sz="1600" dirty="0" smtClean="0"/>
          </a:p>
          <a:p>
            <a:pPr>
              <a:lnSpc>
                <a:spcPct val="150000"/>
              </a:lnSpc>
            </a:pPr>
            <a:r>
              <a:rPr lang="ru-RU" sz="1600" b="1" dirty="0" err="1" smtClean="0"/>
              <a:t>MediaPipe</a:t>
            </a:r>
            <a:r>
              <a:rPr lang="ru-RU" sz="1600" dirty="0" smtClean="0"/>
              <a:t> </a:t>
            </a:r>
            <a:r>
              <a:rPr lang="ru-RU" sz="1600" dirty="0"/>
              <a:t>— это мощный и универсальный </a:t>
            </a:r>
            <a:r>
              <a:rPr lang="ru-RU" sz="1600" dirty="0" err="1"/>
              <a:t>фреймворк</a:t>
            </a:r>
            <a:r>
              <a:rPr lang="ru-RU" sz="1600" dirty="0"/>
              <a:t> с открытым исходным кодом, </a:t>
            </a:r>
            <a:r>
              <a:rPr lang="ru-RU" sz="1600" dirty="0" smtClean="0"/>
              <a:t>который </a:t>
            </a:r>
            <a:r>
              <a:rPr lang="ru-RU" sz="1600" dirty="0"/>
              <a:t>предназначен для создания решений в области обработки </a:t>
            </a:r>
            <a:r>
              <a:rPr lang="ru-RU" sz="1600" dirty="0" smtClean="0"/>
              <a:t>мультимедиа. С помощью этого </a:t>
            </a:r>
            <a:r>
              <a:rPr lang="ru-RU" sz="1600" dirty="0" err="1" smtClean="0"/>
              <a:t>фреймворка</a:t>
            </a:r>
            <a:r>
              <a:rPr lang="ru-RU" sz="1600" dirty="0" smtClean="0"/>
              <a:t> будет и создаваться интерактивное управление в данной работе.</a:t>
            </a:r>
            <a:endParaRPr lang="ru-RU" sz="1600" b="1" dirty="0"/>
          </a:p>
        </p:txBody>
      </p:sp>
    </p:spTree>
    <p:extLst>
      <p:ext uri="{BB962C8B-B14F-4D97-AF65-F5344CB8AC3E}">
        <p14:creationId xmlns:p14="http://schemas.microsoft.com/office/powerpoint/2010/main" val="308508428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2600844" y="69434"/>
            <a:ext cx="7043968" cy="455381"/>
          </a:xfrm>
        </p:spPr>
        <p:txBody>
          <a:bodyPr/>
          <a:lstStyle/>
          <a:p>
            <a:r>
              <a:rPr lang="ru-RU" dirty="0"/>
              <a:t>Реализация рассматриваемых методов</a:t>
            </a:r>
          </a:p>
        </p:txBody>
      </p:sp>
      <p:sp>
        <p:nvSpPr>
          <p:cNvPr id="3" name="Подзаголовок 2"/>
          <p:cNvSpPr>
            <a:spLocks noGrp="1"/>
          </p:cNvSpPr>
          <p:nvPr>
            <p:ph type="subTitle" idx="4"/>
          </p:nvPr>
        </p:nvSpPr>
        <p:spPr>
          <a:xfrm>
            <a:off x="731707" y="717858"/>
            <a:ext cx="10835640" cy="5170646"/>
          </a:xfrm>
        </p:spPr>
        <p:txBody>
          <a:bodyPr/>
          <a:lstStyle/>
          <a:p>
            <a:pPr>
              <a:lnSpc>
                <a:spcPct val="150000"/>
              </a:lnSpc>
            </a:pPr>
            <a:r>
              <a:rPr lang="ru-RU" sz="1200" b="1" dirty="0"/>
              <a:t>Подготовка данных: сбор, разметка и </a:t>
            </a:r>
            <a:r>
              <a:rPr lang="ru-RU" sz="1200" b="1" dirty="0" smtClean="0"/>
              <a:t>предобработка:</a:t>
            </a:r>
          </a:p>
          <a:p>
            <a:pPr>
              <a:lnSpc>
                <a:spcPct val="150000"/>
              </a:lnSpc>
            </a:pPr>
            <a:r>
              <a:rPr lang="ru-RU" sz="1200" dirty="0"/>
              <a:t>Сбор данных - в качестве данных был взят готовый, размеченный </a:t>
            </a:r>
            <a:r>
              <a:rPr lang="ru-RU" sz="1200" dirty="0" err="1"/>
              <a:t>датасет</a:t>
            </a:r>
            <a:r>
              <a:rPr lang="ru-RU" sz="1200" dirty="0"/>
              <a:t> жестов, взятый c </a:t>
            </a:r>
            <a:r>
              <a:rPr lang="ru-RU" sz="1200" dirty="0" err="1"/>
              <a:t>Kaggle</a:t>
            </a:r>
            <a:r>
              <a:rPr lang="ru-RU" sz="1200" dirty="0"/>
              <a:t> - </a:t>
            </a:r>
            <a:r>
              <a:rPr lang="ru-RU" sz="1200" dirty="0" err="1"/>
              <a:t>Hand</a:t>
            </a:r>
            <a:r>
              <a:rPr lang="ru-RU" sz="1200" dirty="0"/>
              <a:t> </a:t>
            </a:r>
            <a:r>
              <a:rPr lang="ru-RU" sz="1200" dirty="0" err="1"/>
              <a:t>Gesture</a:t>
            </a:r>
            <a:r>
              <a:rPr lang="ru-RU" sz="1200" dirty="0"/>
              <a:t> </a:t>
            </a:r>
            <a:r>
              <a:rPr lang="ru-RU" sz="1200" dirty="0" err="1"/>
              <a:t>Recognition</a:t>
            </a:r>
            <a:r>
              <a:rPr lang="ru-RU" sz="1200" dirty="0"/>
              <a:t> </a:t>
            </a:r>
            <a:r>
              <a:rPr lang="ru-RU" sz="1200" dirty="0" err="1"/>
              <a:t>Database</a:t>
            </a:r>
            <a:r>
              <a:rPr lang="ru-RU" sz="1200" dirty="0"/>
              <a:t> от </a:t>
            </a:r>
            <a:r>
              <a:rPr lang="ru-RU" sz="1200" dirty="0" err="1" smtClean="0"/>
              <a:t>LeapMotion</a:t>
            </a:r>
            <a:r>
              <a:rPr lang="ru-RU" sz="1200" dirty="0" smtClean="0"/>
              <a:t>.</a:t>
            </a:r>
          </a:p>
          <a:p>
            <a:pPr>
              <a:lnSpc>
                <a:spcPct val="150000"/>
              </a:lnSpc>
            </a:pPr>
            <a:r>
              <a:rPr lang="ru-RU" sz="1200" dirty="0" smtClean="0"/>
              <a:t>Шаги предобработки данных:</a:t>
            </a:r>
          </a:p>
          <a:p>
            <a:pPr marL="285750" indent="-285750">
              <a:lnSpc>
                <a:spcPct val="150000"/>
              </a:lnSpc>
              <a:buFont typeface="Arial" panose="020B0604020202020204" pitchFamily="34" charset="0"/>
              <a:buChar char="•"/>
            </a:pPr>
            <a:r>
              <a:rPr lang="ru-RU" sz="1200" dirty="0"/>
              <a:t>изменение размера </a:t>
            </a:r>
            <a:r>
              <a:rPr lang="ru-RU" sz="1200" dirty="0" smtClean="0"/>
              <a:t>изображений: все </a:t>
            </a:r>
            <a:r>
              <a:rPr lang="ru-RU" sz="1200" dirty="0"/>
              <a:t>изображения были приведены к единому размеру, значения пикселей были нормализованы в диапазон [0, 1] для ускорения обучения нейронной сети</a:t>
            </a:r>
            <a:r>
              <a:rPr lang="ru-RU" sz="1200" dirty="0" smtClean="0"/>
              <a:t>.</a:t>
            </a:r>
          </a:p>
          <a:p>
            <a:pPr marL="285750" indent="-285750">
              <a:lnSpc>
                <a:spcPct val="150000"/>
              </a:lnSpc>
              <a:buFont typeface="Arial" panose="020B0604020202020204" pitchFamily="34" charset="0"/>
              <a:buChar char="•"/>
            </a:pPr>
            <a:r>
              <a:rPr lang="ru-RU" sz="1200" dirty="0" smtClean="0"/>
              <a:t>аугментация </a:t>
            </a:r>
            <a:r>
              <a:rPr lang="ru-RU" sz="1200" dirty="0"/>
              <a:t>данных: </a:t>
            </a:r>
            <a:r>
              <a:rPr lang="ru-RU" sz="1200" dirty="0" smtClean="0"/>
              <a:t>для </a:t>
            </a:r>
            <a:r>
              <a:rPr lang="ru-RU" sz="1200" dirty="0"/>
              <a:t>увеличения объема тренировочного набора использовалась аугментация, включающая случайные вращения, изменения масштаба, смещения изображений</a:t>
            </a:r>
            <a:r>
              <a:rPr lang="ru-RU" sz="1200" dirty="0" smtClean="0"/>
              <a:t>.</a:t>
            </a:r>
          </a:p>
          <a:p>
            <a:pPr>
              <a:lnSpc>
                <a:spcPct val="150000"/>
              </a:lnSpc>
            </a:pPr>
            <a:r>
              <a:rPr lang="ru-RU" sz="1200" b="1" dirty="0"/>
              <a:t>Обучение CNN для классификации </a:t>
            </a:r>
            <a:r>
              <a:rPr lang="ru-RU" sz="1200" b="1" dirty="0" smtClean="0"/>
              <a:t>жестов</a:t>
            </a:r>
          </a:p>
          <a:p>
            <a:pPr>
              <a:lnSpc>
                <a:spcPct val="150000"/>
              </a:lnSpc>
            </a:pPr>
            <a:r>
              <a:rPr lang="ru-RU" sz="1200" dirty="0" smtClean="0"/>
              <a:t>1. Модель </a:t>
            </a:r>
            <a:r>
              <a:rPr lang="ru-RU" sz="1200" dirty="0"/>
              <a:t>была построена с использованием следующих слоев: </a:t>
            </a:r>
            <a:endParaRPr lang="ru-RU" sz="1200" dirty="0" smtClean="0"/>
          </a:p>
          <a:p>
            <a:pPr marL="285750" indent="-285750">
              <a:lnSpc>
                <a:spcPct val="150000"/>
              </a:lnSpc>
              <a:buFont typeface="Arial" panose="020B0604020202020204" pitchFamily="34" charset="0"/>
              <a:buChar char="•"/>
            </a:pPr>
            <a:r>
              <a:rPr lang="ru-RU" sz="1200" dirty="0" err="1" smtClean="0"/>
              <a:t>сверточные</a:t>
            </a:r>
            <a:r>
              <a:rPr lang="ru-RU" sz="1200" dirty="0" smtClean="0"/>
              <a:t> </a:t>
            </a:r>
            <a:r>
              <a:rPr lang="ru-RU" sz="1200" dirty="0"/>
              <a:t>слои (Conv2D) с ядрами размером </a:t>
            </a:r>
            <a:r>
              <a:rPr lang="ru-RU" sz="1200" dirty="0" smtClean="0"/>
              <a:t>3x3</a:t>
            </a:r>
            <a:r>
              <a:rPr lang="ru-RU" sz="1200" dirty="0"/>
              <a:t>;</a:t>
            </a:r>
            <a:endParaRPr lang="ru-RU" sz="1200" dirty="0" smtClean="0"/>
          </a:p>
          <a:p>
            <a:pPr marL="285750" indent="-285750">
              <a:lnSpc>
                <a:spcPct val="150000"/>
              </a:lnSpc>
              <a:buFont typeface="Arial" panose="020B0604020202020204" pitchFamily="34" charset="0"/>
              <a:buChar char="•"/>
            </a:pPr>
            <a:r>
              <a:rPr lang="ru-RU" sz="1200" dirty="0" err="1" smtClean="0"/>
              <a:t>пулинг</a:t>
            </a:r>
            <a:r>
              <a:rPr lang="ru-RU" sz="1200" dirty="0" smtClean="0"/>
              <a:t> </a:t>
            </a:r>
            <a:r>
              <a:rPr lang="ru-RU" sz="1200" dirty="0"/>
              <a:t>(</a:t>
            </a:r>
            <a:r>
              <a:rPr lang="ru-RU" sz="1200" dirty="0" err="1"/>
              <a:t>MaxPooling</a:t>
            </a:r>
            <a:r>
              <a:rPr lang="ru-RU" sz="1200" dirty="0"/>
              <a:t>) для уменьшения пространственного размера </a:t>
            </a:r>
            <a:r>
              <a:rPr lang="ru-RU" sz="1200" dirty="0" smtClean="0"/>
              <a:t>изображения; </a:t>
            </a:r>
          </a:p>
          <a:p>
            <a:pPr marL="285750" indent="-285750">
              <a:lnSpc>
                <a:spcPct val="150000"/>
              </a:lnSpc>
              <a:buFont typeface="Arial" panose="020B0604020202020204" pitchFamily="34" charset="0"/>
              <a:buChar char="•"/>
            </a:pPr>
            <a:r>
              <a:rPr lang="ru-RU" sz="1200" dirty="0" err="1" smtClean="0"/>
              <a:t>полносвязные</a:t>
            </a:r>
            <a:r>
              <a:rPr lang="ru-RU" sz="1200" dirty="0" smtClean="0"/>
              <a:t> </a:t>
            </a:r>
            <a:r>
              <a:rPr lang="ru-RU" sz="1200" dirty="0"/>
              <a:t>слои (</a:t>
            </a:r>
            <a:r>
              <a:rPr lang="ru-RU" sz="1200" dirty="0" err="1"/>
              <a:t>Dense</a:t>
            </a:r>
            <a:r>
              <a:rPr lang="ru-RU" sz="1200" dirty="0"/>
              <a:t>) для классификации. </a:t>
            </a:r>
            <a:endParaRPr lang="ru-RU" sz="1200" dirty="0" smtClean="0"/>
          </a:p>
          <a:p>
            <a:pPr>
              <a:lnSpc>
                <a:spcPct val="150000"/>
              </a:lnSpc>
            </a:pPr>
            <a:endParaRPr lang="ru-RU" sz="1200" dirty="0" smtClean="0"/>
          </a:p>
          <a:p>
            <a:pPr>
              <a:lnSpc>
                <a:spcPct val="150000"/>
              </a:lnSpc>
            </a:pPr>
            <a:r>
              <a:rPr lang="ru-RU" sz="1200" dirty="0" smtClean="0"/>
              <a:t>2. Для </a:t>
            </a:r>
            <a:r>
              <a:rPr lang="ru-RU" sz="1200" dirty="0"/>
              <a:t>оценки модели использовались следующие метрики: </a:t>
            </a:r>
          </a:p>
          <a:p>
            <a:pPr marL="171450" indent="-171450">
              <a:lnSpc>
                <a:spcPct val="150000"/>
              </a:lnSpc>
              <a:buFont typeface="Arial" panose="020B0604020202020204" pitchFamily="34" charset="0"/>
              <a:buChar char="•"/>
            </a:pPr>
            <a:r>
              <a:rPr lang="ru-RU" sz="1200" dirty="0" smtClean="0"/>
              <a:t>Точность </a:t>
            </a:r>
            <a:r>
              <a:rPr lang="ru-RU" sz="1200" dirty="0"/>
              <a:t>(</a:t>
            </a:r>
            <a:r>
              <a:rPr lang="ru-RU" sz="1200" dirty="0" err="1"/>
              <a:t>accuracy</a:t>
            </a:r>
            <a:r>
              <a:rPr lang="ru-RU" sz="1200" dirty="0"/>
              <a:t>): процент правильно классифицированных </a:t>
            </a:r>
            <a:r>
              <a:rPr lang="ru-RU" sz="1200" dirty="0" smtClean="0"/>
              <a:t>изображений; </a:t>
            </a:r>
          </a:p>
          <a:p>
            <a:pPr marL="171450" indent="-171450">
              <a:lnSpc>
                <a:spcPct val="150000"/>
              </a:lnSpc>
              <a:buFont typeface="Arial" panose="020B0604020202020204" pitchFamily="34" charset="0"/>
              <a:buChar char="•"/>
            </a:pPr>
            <a:r>
              <a:rPr lang="ru-RU" sz="1200" dirty="0" err="1" smtClean="0"/>
              <a:t>Precision</a:t>
            </a:r>
            <a:r>
              <a:rPr lang="ru-RU" sz="1200" dirty="0"/>
              <a:t>, </a:t>
            </a:r>
            <a:r>
              <a:rPr lang="ru-RU" sz="1200" dirty="0" err="1"/>
              <a:t>Recall</a:t>
            </a:r>
            <a:r>
              <a:rPr lang="ru-RU" sz="1200" dirty="0"/>
              <a:t>, F1-score: для оценки качества модели по каждому классу жестов. </a:t>
            </a:r>
          </a:p>
          <a:p>
            <a:endParaRPr lang="ru-RU" sz="1200" dirty="0"/>
          </a:p>
          <a:p>
            <a:pPr>
              <a:lnSpc>
                <a:spcPct val="150000"/>
              </a:lnSpc>
            </a:pPr>
            <a:r>
              <a:rPr lang="ru-RU" sz="1200" dirty="0" smtClean="0"/>
              <a:t>Для </a:t>
            </a:r>
            <a:r>
              <a:rPr lang="ru-RU" sz="1200" dirty="0"/>
              <a:t>тренировки модели использовалась библиотека </a:t>
            </a:r>
            <a:r>
              <a:rPr lang="ru-RU" sz="1200" dirty="0" err="1"/>
              <a:t>TensorFlow</a:t>
            </a:r>
            <a:r>
              <a:rPr lang="ru-RU" sz="1200" dirty="0"/>
              <a:t> с </a:t>
            </a:r>
            <a:r>
              <a:rPr lang="ru-RU" sz="1200" dirty="0" err="1"/>
              <a:t>Keras</a:t>
            </a:r>
            <a:r>
              <a:rPr lang="ru-RU" sz="1200" dirty="0"/>
              <a:t>, что позволило ускорить процесс разработки и тестирования. </a:t>
            </a:r>
            <a:endParaRPr lang="ru-RU" sz="1200" dirty="0" smtClean="0"/>
          </a:p>
          <a:p>
            <a:pPr>
              <a:lnSpc>
                <a:spcPct val="150000"/>
              </a:lnSpc>
            </a:pPr>
            <a:r>
              <a:rPr lang="ru-RU" sz="1200" dirty="0" smtClean="0"/>
              <a:t>Общее </a:t>
            </a:r>
            <a:r>
              <a:rPr lang="ru-RU" sz="1200" dirty="0"/>
              <a:t>кол-во обучаемых параметров: 15,617,674</a:t>
            </a:r>
            <a:endParaRPr lang="ru-RU" sz="1200" b="1" dirty="0"/>
          </a:p>
        </p:txBody>
      </p:sp>
      <p:sp>
        <p:nvSpPr>
          <p:cNvPr id="4" name="TextBox 3"/>
          <p:cNvSpPr txBox="1"/>
          <p:nvPr/>
        </p:nvSpPr>
        <p:spPr>
          <a:xfrm>
            <a:off x="7890525" y="2803851"/>
            <a:ext cx="2682145" cy="1200329"/>
          </a:xfrm>
          <a:prstGeom prst="rect">
            <a:avLst/>
          </a:prstGeom>
          <a:noFill/>
        </p:spPr>
        <p:txBody>
          <a:bodyPr wrap="none" rtlCol="0">
            <a:spAutoFit/>
          </a:bodyPr>
          <a:lstStyle/>
          <a:p>
            <a:pPr>
              <a:lnSpc>
                <a:spcPct val="150000"/>
              </a:lnSpc>
            </a:pPr>
            <a:r>
              <a:rPr lang="ru-RU" sz="1200" dirty="0" smtClean="0">
                <a:latin typeface="Tahoma" panose="020B0604030504040204" pitchFamily="34" charset="0"/>
                <a:ea typeface="Tahoma" panose="020B0604030504040204" pitchFamily="34" charset="0"/>
                <a:cs typeface="Tahoma" panose="020B0604030504040204" pitchFamily="34" charset="0"/>
              </a:rPr>
              <a:t>3. </a:t>
            </a:r>
            <a:r>
              <a:rPr lang="ru-RU" sz="1200" dirty="0" err="1" smtClean="0">
                <a:latin typeface="Tahoma" panose="020B0604030504040204" pitchFamily="34" charset="0"/>
                <a:ea typeface="Tahoma" panose="020B0604030504040204" pitchFamily="34" charset="0"/>
                <a:cs typeface="Tahoma" panose="020B0604030504040204" pitchFamily="34" charset="0"/>
              </a:rPr>
              <a:t>Гиперпараметры</a:t>
            </a:r>
            <a:r>
              <a:rPr lang="ru-RU" sz="1200" dirty="0" smtClean="0">
                <a:latin typeface="Tahoma" panose="020B0604030504040204" pitchFamily="34" charset="0"/>
                <a:ea typeface="Tahoma" panose="020B0604030504040204" pitchFamily="34" charset="0"/>
                <a:cs typeface="Tahoma" panose="020B0604030504040204" pitchFamily="34" charset="0"/>
              </a:rPr>
              <a:t>: </a:t>
            </a:r>
            <a:endParaRPr lang="en-US" sz="1200" dirty="0" smtClean="0">
              <a:latin typeface="Tahoma" panose="020B0604030504040204" pitchFamily="34" charset="0"/>
              <a:ea typeface="Tahoma" panose="020B0604030504040204" pitchFamily="34" charset="0"/>
              <a:cs typeface="Tahoma" panose="020B0604030504040204" pitchFamily="34" charset="0"/>
            </a:endParaRPr>
          </a:p>
          <a:p>
            <a:pPr marL="171450" indent="-171450">
              <a:lnSpc>
                <a:spcPct val="150000"/>
              </a:lnSpc>
              <a:buFont typeface="Arial" panose="020B0604020202020204" pitchFamily="34" charset="0"/>
              <a:buChar char="•"/>
            </a:pPr>
            <a:r>
              <a:rPr lang="ru-RU" sz="1200" dirty="0" err="1" smtClean="0">
                <a:latin typeface="Tahoma" panose="020B0604030504040204" pitchFamily="34" charset="0"/>
                <a:ea typeface="Tahoma" panose="020B0604030504040204" pitchFamily="34" charset="0"/>
                <a:cs typeface="Tahoma" panose="020B0604030504040204" pitchFamily="34" charset="0"/>
              </a:rPr>
              <a:t>learning</a:t>
            </a:r>
            <a:r>
              <a:rPr lang="ru-RU" sz="1200" dirty="0" smtClean="0">
                <a:latin typeface="Tahoma" panose="020B0604030504040204" pitchFamily="34" charset="0"/>
                <a:ea typeface="Tahoma" panose="020B0604030504040204" pitchFamily="34" charset="0"/>
                <a:cs typeface="Tahoma" panose="020B0604030504040204" pitchFamily="34" charset="0"/>
              </a:rPr>
              <a:t> </a:t>
            </a:r>
            <a:r>
              <a:rPr lang="ru-RU" sz="1200" dirty="0" err="1" smtClean="0">
                <a:latin typeface="Tahoma" panose="020B0604030504040204" pitchFamily="34" charset="0"/>
                <a:ea typeface="Tahoma" panose="020B0604030504040204" pitchFamily="34" charset="0"/>
                <a:cs typeface="Tahoma" panose="020B0604030504040204" pitchFamily="34" charset="0"/>
              </a:rPr>
              <a:t>rate</a:t>
            </a:r>
            <a:r>
              <a:rPr lang="ru-RU" sz="1200" dirty="0" smtClean="0">
                <a:latin typeface="Tahoma" panose="020B0604030504040204" pitchFamily="34" charset="0"/>
                <a:ea typeface="Tahoma" panose="020B0604030504040204" pitchFamily="34" charset="0"/>
                <a:cs typeface="Tahoma" panose="020B0604030504040204" pitchFamily="34" charset="0"/>
              </a:rPr>
              <a:t> - 0.001; </a:t>
            </a:r>
            <a:endParaRPr lang="en-US" sz="1200" dirty="0" smtClean="0">
              <a:latin typeface="Tahoma" panose="020B0604030504040204" pitchFamily="34" charset="0"/>
              <a:ea typeface="Tahoma" panose="020B0604030504040204" pitchFamily="34" charset="0"/>
              <a:cs typeface="Tahoma" panose="020B0604030504040204" pitchFamily="34" charset="0"/>
            </a:endParaRPr>
          </a:p>
          <a:p>
            <a:pPr marL="171450" indent="-171450">
              <a:lnSpc>
                <a:spcPct val="150000"/>
              </a:lnSpc>
              <a:buFont typeface="Arial" panose="020B0604020202020204" pitchFamily="34" charset="0"/>
              <a:buChar char="•"/>
            </a:pPr>
            <a:r>
              <a:rPr lang="ru-RU" sz="1200" dirty="0" smtClean="0">
                <a:latin typeface="Tahoma" panose="020B0604030504040204" pitchFamily="34" charset="0"/>
                <a:ea typeface="Tahoma" panose="020B0604030504040204" pitchFamily="34" charset="0"/>
                <a:cs typeface="Tahoma" panose="020B0604030504040204" pitchFamily="34" charset="0"/>
              </a:rPr>
              <a:t>размер </a:t>
            </a:r>
            <a:r>
              <a:rPr lang="ru-RU" sz="1200" dirty="0" err="1" smtClean="0">
                <a:latin typeface="Tahoma" panose="020B0604030504040204" pitchFamily="34" charset="0"/>
                <a:ea typeface="Tahoma" panose="020B0604030504040204" pitchFamily="34" charset="0"/>
                <a:cs typeface="Tahoma" panose="020B0604030504040204" pitchFamily="34" charset="0"/>
              </a:rPr>
              <a:t>батча</a:t>
            </a:r>
            <a:r>
              <a:rPr lang="ru-RU" sz="1200" dirty="0" smtClean="0">
                <a:latin typeface="Tahoma" panose="020B0604030504040204" pitchFamily="34" charset="0"/>
                <a:ea typeface="Tahoma" panose="020B0604030504040204" pitchFamily="34" charset="0"/>
                <a:cs typeface="Tahoma" panose="020B0604030504040204" pitchFamily="34" charset="0"/>
              </a:rPr>
              <a:t> (</a:t>
            </a:r>
            <a:r>
              <a:rPr lang="ru-RU" sz="1200" dirty="0" err="1" smtClean="0">
                <a:latin typeface="Tahoma" panose="020B0604030504040204" pitchFamily="34" charset="0"/>
                <a:ea typeface="Tahoma" panose="020B0604030504040204" pitchFamily="34" charset="0"/>
                <a:cs typeface="Tahoma" panose="020B0604030504040204" pitchFamily="34" charset="0"/>
              </a:rPr>
              <a:t>batch</a:t>
            </a:r>
            <a:r>
              <a:rPr lang="ru-RU" sz="1200" dirty="0" smtClean="0">
                <a:latin typeface="Tahoma" panose="020B0604030504040204" pitchFamily="34" charset="0"/>
                <a:ea typeface="Tahoma" panose="020B0604030504040204" pitchFamily="34" charset="0"/>
                <a:cs typeface="Tahoma" panose="020B0604030504040204" pitchFamily="34" charset="0"/>
              </a:rPr>
              <a:t> </a:t>
            </a:r>
            <a:r>
              <a:rPr lang="ru-RU" sz="1200" dirty="0" err="1" smtClean="0">
                <a:latin typeface="Tahoma" panose="020B0604030504040204" pitchFamily="34" charset="0"/>
                <a:ea typeface="Tahoma" panose="020B0604030504040204" pitchFamily="34" charset="0"/>
                <a:cs typeface="Tahoma" panose="020B0604030504040204" pitchFamily="34" charset="0"/>
              </a:rPr>
              <a:t>size</a:t>
            </a:r>
            <a:r>
              <a:rPr lang="ru-RU" sz="1200" dirty="0" smtClean="0">
                <a:latin typeface="Tahoma" panose="020B0604030504040204" pitchFamily="34" charset="0"/>
                <a:ea typeface="Tahoma" panose="020B0604030504040204" pitchFamily="34" charset="0"/>
                <a:cs typeface="Tahoma" panose="020B0604030504040204" pitchFamily="34" charset="0"/>
              </a:rPr>
              <a:t>) – 128</a:t>
            </a:r>
            <a:r>
              <a:rPr lang="ru-RU" sz="1200" dirty="0">
                <a:latin typeface="Tahoma" panose="020B0604030504040204" pitchFamily="34" charset="0"/>
                <a:ea typeface="Tahoma" panose="020B0604030504040204" pitchFamily="34" charset="0"/>
                <a:cs typeface="Tahoma" panose="020B0604030504040204" pitchFamily="34" charset="0"/>
              </a:rPr>
              <a:t>;</a:t>
            </a:r>
            <a:r>
              <a:rPr lang="ru-RU" sz="1200" dirty="0" smtClean="0">
                <a:latin typeface="Tahoma" panose="020B0604030504040204" pitchFamily="34" charset="0"/>
                <a:ea typeface="Tahoma" panose="020B0604030504040204" pitchFamily="34" charset="0"/>
                <a:cs typeface="Tahoma" panose="020B0604030504040204" pitchFamily="34" charset="0"/>
              </a:rPr>
              <a:t> </a:t>
            </a:r>
            <a:endParaRPr lang="en-US" sz="1200" dirty="0" smtClean="0">
              <a:latin typeface="Tahoma" panose="020B0604030504040204" pitchFamily="34" charset="0"/>
              <a:ea typeface="Tahoma" panose="020B0604030504040204" pitchFamily="34" charset="0"/>
              <a:cs typeface="Tahoma" panose="020B0604030504040204" pitchFamily="34" charset="0"/>
            </a:endParaRPr>
          </a:p>
          <a:p>
            <a:pPr marL="171450" indent="-171450">
              <a:lnSpc>
                <a:spcPct val="150000"/>
              </a:lnSpc>
              <a:buFont typeface="Arial" panose="020B0604020202020204" pitchFamily="34" charset="0"/>
              <a:buChar char="•"/>
            </a:pPr>
            <a:r>
              <a:rPr lang="ru-RU" sz="1200" dirty="0" smtClean="0">
                <a:latin typeface="Tahoma" panose="020B0604030504040204" pitchFamily="34" charset="0"/>
                <a:ea typeface="Tahoma" panose="020B0604030504040204" pitchFamily="34" charset="0"/>
                <a:cs typeface="Tahoma" panose="020B0604030504040204" pitchFamily="34" charset="0"/>
              </a:rPr>
              <a:t>количество эпох – 3.</a:t>
            </a:r>
            <a:endParaRPr lang="ru-RU" sz="12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2329132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0" y="87722"/>
            <a:ext cx="12175860" cy="455381"/>
          </a:xfrm>
        </p:spPr>
        <p:txBody>
          <a:bodyPr/>
          <a:lstStyle/>
          <a:p>
            <a:pPr algn="ctr"/>
            <a:r>
              <a:rPr lang="ru-RU" dirty="0" smtClean="0"/>
              <a:t>Графики обучаемой модели</a:t>
            </a:r>
            <a:endParaRPr lang="ru-RU" dirty="0"/>
          </a:p>
        </p:txBody>
      </p:sp>
      <p:pic>
        <p:nvPicPr>
          <p:cNvPr id="4" name="Рисунок 3"/>
          <p:cNvPicPr/>
          <p:nvPr/>
        </p:nvPicPr>
        <p:blipFill>
          <a:blip r:embed="rId2"/>
          <a:stretch>
            <a:fillRect/>
          </a:stretch>
        </p:blipFill>
        <p:spPr>
          <a:xfrm>
            <a:off x="661416" y="670814"/>
            <a:ext cx="2712720" cy="3980180"/>
          </a:xfrm>
          <a:prstGeom prst="rect">
            <a:avLst/>
          </a:prstGeom>
        </p:spPr>
      </p:pic>
      <p:pic>
        <p:nvPicPr>
          <p:cNvPr id="5" name="Рисунок 4"/>
          <p:cNvPicPr/>
          <p:nvPr/>
        </p:nvPicPr>
        <p:blipFill>
          <a:blip r:embed="rId3"/>
          <a:stretch>
            <a:fillRect/>
          </a:stretch>
        </p:blipFill>
        <p:spPr>
          <a:xfrm>
            <a:off x="663384" y="4654296"/>
            <a:ext cx="2710751" cy="2055685"/>
          </a:xfrm>
          <a:prstGeom prst="rect">
            <a:avLst/>
          </a:prstGeom>
        </p:spPr>
      </p:pic>
      <p:pic>
        <p:nvPicPr>
          <p:cNvPr id="6" name="Рисунок 5"/>
          <p:cNvPicPr/>
          <p:nvPr/>
        </p:nvPicPr>
        <p:blipFill>
          <a:blip r:embed="rId4"/>
          <a:stretch>
            <a:fillRect/>
          </a:stretch>
        </p:blipFill>
        <p:spPr>
          <a:xfrm>
            <a:off x="3382518" y="660908"/>
            <a:ext cx="3868674" cy="2923540"/>
          </a:xfrm>
          <a:prstGeom prst="rect">
            <a:avLst/>
          </a:prstGeom>
        </p:spPr>
      </p:pic>
      <p:pic>
        <p:nvPicPr>
          <p:cNvPr id="7" name="Рисунок 6"/>
          <p:cNvPicPr/>
          <p:nvPr/>
        </p:nvPicPr>
        <p:blipFill>
          <a:blip r:embed="rId5"/>
          <a:stretch>
            <a:fillRect/>
          </a:stretch>
        </p:blipFill>
        <p:spPr>
          <a:xfrm>
            <a:off x="7242048" y="647383"/>
            <a:ext cx="3931919" cy="2937065"/>
          </a:xfrm>
          <a:prstGeom prst="rect">
            <a:avLst/>
          </a:prstGeom>
        </p:spPr>
      </p:pic>
      <p:sp>
        <p:nvSpPr>
          <p:cNvPr id="8" name="Прямоугольник 7"/>
          <p:cNvSpPr/>
          <p:nvPr/>
        </p:nvSpPr>
        <p:spPr>
          <a:xfrm rot="16200000">
            <a:off x="-1114087" y="3499243"/>
            <a:ext cx="2736005" cy="371577"/>
          </a:xfrm>
          <a:prstGeom prst="rect">
            <a:avLst/>
          </a:prstGeom>
        </p:spPr>
        <p:txBody>
          <a:bodyPr wrap="none">
            <a:spAutoFit/>
          </a:bodyPr>
          <a:lstStyle/>
          <a:p>
            <a:pPr indent="450215" algn="ctr">
              <a:lnSpc>
                <a:spcPct val="150000"/>
              </a:lnSpc>
              <a:spcAft>
                <a:spcPts val="0"/>
              </a:spcAft>
            </a:pPr>
            <a:r>
              <a:rPr lang="ru-RU" sz="1400" dirty="0" smtClean="0">
                <a:effectLst/>
                <a:latin typeface="Tahoma" panose="020B0604030504040204" pitchFamily="34" charset="0"/>
                <a:ea typeface="Tahoma" panose="020B0604030504040204" pitchFamily="34" charset="0"/>
                <a:cs typeface="Tahoma" panose="020B0604030504040204" pitchFamily="34" charset="0"/>
              </a:rPr>
              <a:t>Рисунок 1 – Слои модели</a:t>
            </a:r>
            <a:endParaRPr lang="ru-RU" sz="1400" dirty="0">
              <a:effectLst/>
              <a:latin typeface="Tahoma" panose="020B0604030504040204" pitchFamily="34" charset="0"/>
              <a:ea typeface="Tahoma" panose="020B0604030504040204" pitchFamily="34" charset="0"/>
              <a:cs typeface="Tahoma" panose="020B0604030504040204" pitchFamily="34" charset="0"/>
            </a:endParaRPr>
          </a:p>
        </p:txBody>
      </p:sp>
      <p:sp>
        <p:nvSpPr>
          <p:cNvPr id="9" name="Прямоугольник 8"/>
          <p:cNvSpPr/>
          <p:nvPr/>
        </p:nvSpPr>
        <p:spPr>
          <a:xfrm>
            <a:off x="3601457" y="3595709"/>
            <a:ext cx="2995692" cy="694742"/>
          </a:xfrm>
          <a:prstGeom prst="rect">
            <a:avLst/>
          </a:prstGeom>
        </p:spPr>
        <p:txBody>
          <a:bodyPr wrap="none">
            <a:spAutoFit/>
          </a:bodyPr>
          <a:lstStyle/>
          <a:p>
            <a:pPr indent="450215" algn="ctr">
              <a:lnSpc>
                <a:spcPct val="150000"/>
              </a:lnSpc>
              <a:spcAft>
                <a:spcPts val="0"/>
              </a:spcAft>
            </a:pPr>
            <a:r>
              <a:rPr lang="ru-RU" sz="1400" dirty="0" smtClean="0">
                <a:effectLst/>
                <a:latin typeface="Tahoma" panose="020B0604030504040204" pitchFamily="34" charset="0"/>
                <a:ea typeface="Tahoma" panose="020B0604030504040204" pitchFamily="34" charset="0"/>
                <a:cs typeface="Tahoma" panose="020B0604030504040204" pitchFamily="34" charset="0"/>
              </a:rPr>
              <a:t>Рисунок </a:t>
            </a:r>
            <a:r>
              <a:rPr lang="en-US" sz="1400" dirty="0" smtClean="0">
                <a:effectLst/>
                <a:latin typeface="Tahoma" panose="020B0604030504040204" pitchFamily="34" charset="0"/>
                <a:ea typeface="Tahoma" panose="020B0604030504040204" pitchFamily="34" charset="0"/>
                <a:cs typeface="Tahoma" panose="020B0604030504040204" pitchFamily="34" charset="0"/>
              </a:rPr>
              <a:t>2 </a:t>
            </a:r>
            <a:r>
              <a:rPr lang="ru-RU" sz="1400" dirty="0" smtClean="0">
                <a:effectLst/>
                <a:latin typeface="Tahoma" panose="020B0604030504040204" pitchFamily="34" charset="0"/>
                <a:ea typeface="Tahoma" panose="020B0604030504040204" pitchFamily="34" charset="0"/>
                <a:cs typeface="Tahoma" panose="020B0604030504040204" pitchFamily="34" charset="0"/>
              </a:rPr>
              <a:t>– </a:t>
            </a:r>
          </a:p>
          <a:p>
            <a:pPr indent="450215" algn="ctr">
              <a:lnSpc>
                <a:spcPct val="150000"/>
              </a:lnSpc>
              <a:spcAft>
                <a:spcPts val="0"/>
              </a:spcAft>
            </a:pPr>
            <a:r>
              <a:rPr lang="ru-RU" sz="1400" dirty="0" smtClean="0">
                <a:effectLst/>
                <a:latin typeface="Tahoma" panose="020B0604030504040204" pitchFamily="34" charset="0"/>
                <a:ea typeface="Tahoma" panose="020B0604030504040204" pitchFamily="34" charset="0"/>
                <a:cs typeface="Tahoma" panose="020B0604030504040204" pitchFamily="34" charset="0"/>
              </a:rPr>
              <a:t>Точность обученной модели</a:t>
            </a:r>
            <a:endParaRPr lang="ru-RU" sz="1400" dirty="0">
              <a:effectLst/>
              <a:latin typeface="Tahoma" panose="020B0604030504040204" pitchFamily="34" charset="0"/>
              <a:ea typeface="Tahoma" panose="020B0604030504040204" pitchFamily="34" charset="0"/>
              <a:cs typeface="Tahoma" panose="020B0604030504040204" pitchFamily="34" charset="0"/>
            </a:endParaRPr>
          </a:p>
        </p:txBody>
      </p:sp>
      <p:sp>
        <p:nvSpPr>
          <p:cNvPr id="11" name="Прямоугольник 10"/>
          <p:cNvSpPr/>
          <p:nvPr/>
        </p:nvSpPr>
        <p:spPr>
          <a:xfrm>
            <a:off x="7234089" y="3586565"/>
            <a:ext cx="3575979" cy="694742"/>
          </a:xfrm>
          <a:prstGeom prst="rect">
            <a:avLst/>
          </a:prstGeom>
        </p:spPr>
        <p:txBody>
          <a:bodyPr wrap="none">
            <a:spAutoFit/>
          </a:bodyPr>
          <a:lstStyle/>
          <a:p>
            <a:pPr indent="450215" algn="ctr">
              <a:lnSpc>
                <a:spcPct val="150000"/>
              </a:lnSpc>
              <a:spcAft>
                <a:spcPts val="0"/>
              </a:spcAft>
            </a:pPr>
            <a:r>
              <a:rPr lang="ru-RU" sz="1400" dirty="0" smtClean="0">
                <a:effectLst/>
                <a:latin typeface="Tahoma" panose="020B0604030504040204" pitchFamily="34" charset="0"/>
                <a:ea typeface="Tahoma" panose="020B0604030504040204" pitchFamily="34" charset="0"/>
                <a:cs typeface="Tahoma" panose="020B0604030504040204" pitchFamily="34" charset="0"/>
              </a:rPr>
              <a:t>Рисунок 3 – </a:t>
            </a:r>
          </a:p>
          <a:p>
            <a:pPr indent="450215" algn="ctr">
              <a:lnSpc>
                <a:spcPct val="150000"/>
              </a:lnSpc>
              <a:spcAft>
                <a:spcPts val="0"/>
              </a:spcAft>
            </a:pPr>
            <a:r>
              <a:rPr lang="ru-RU" sz="1400" dirty="0" smtClean="0">
                <a:effectLst/>
                <a:latin typeface="Tahoma" panose="020B0604030504040204" pitchFamily="34" charset="0"/>
                <a:ea typeface="Tahoma" panose="020B0604030504040204" pitchFamily="34" charset="0"/>
                <a:cs typeface="Tahoma" panose="020B0604030504040204" pitchFamily="34" charset="0"/>
              </a:rPr>
              <a:t>Функция потерь обученной модели</a:t>
            </a:r>
            <a:endParaRPr lang="ru-RU" sz="1400" dirty="0">
              <a:effectLst/>
              <a:latin typeface="Tahoma" panose="020B0604030504040204" pitchFamily="34" charset="0"/>
              <a:ea typeface="Tahoma" panose="020B0604030504040204" pitchFamily="34" charset="0"/>
              <a:cs typeface="Tahoma" panose="020B0604030504040204" pitchFamily="34" charset="0"/>
            </a:endParaRPr>
          </a:p>
        </p:txBody>
      </p:sp>
      <p:sp>
        <p:nvSpPr>
          <p:cNvPr id="12" name="Прямоугольник 11"/>
          <p:cNvSpPr/>
          <p:nvPr/>
        </p:nvSpPr>
        <p:spPr>
          <a:xfrm>
            <a:off x="3514344" y="4512671"/>
            <a:ext cx="8217408" cy="1615827"/>
          </a:xfrm>
          <a:prstGeom prst="rect">
            <a:avLst/>
          </a:prstGeom>
        </p:spPr>
        <p:txBody>
          <a:bodyPr wrap="square">
            <a:spAutoFit/>
          </a:bodyPr>
          <a:lstStyle/>
          <a:p>
            <a:pPr indent="450215" algn="just">
              <a:lnSpc>
                <a:spcPct val="150000"/>
              </a:lnSpc>
              <a:spcAft>
                <a:spcPts val="0"/>
              </a:spcAft>
            </a:pPr>
            <a:r>
              <a:rPr lang="ru-RU" sz="1800" dirty="0"/>
              <a:t>Обучение модели привело к следующим показателям наших метрик:</a:t>
            </a:r>
            <a:endParaRPr lang="ru-RU" sz="1600" dirty="0" smtClean="0">
              <a:effectLst/>
              <a:latin typeface="Tahoma" panose="020B0604030504040204" pitchFamily="34" charset="0"/>
              <a:ea typeface="Tahoma" panose="020B0604030504040204" pitchFamily="34" charset="0"/>
              <a:cs typeface="Tahoma" panose="020B0604030504040204" pitchFamily="34" charset="0"/>
            </a:endParaRPr>
          </a:p>
          <a:p>
            <a:pPr marL="285750" indent="-285750" algn="just">
              <a:lnSpc>
                <a:spcPct val="150000"/>
              </a:lnSpc>
              <a:spcAft>
                <a:spcPts val="0"/>
              </a:spcAft>
              <a:buFont typeface="Arial" panose="020B0604020202020204" pitchFamily="34" charset="0"/>
              <a:buChar char="•"/>
            </a:pPr>
            <a:r>
              <a:rPr lang="en-US" sz="1600" dirty="0" smtClean="0">
                <a:effectLst/>
                <a:latin typeface="Tahoma" panose="020B0604030504040204" pitchFamily="34" charset="0"/>
                <a:ea typeface="Tahoma" panose="020B0604030504040204" pitchFamily="34" charset="0"/>
                <a:cs typeface="Tahoma" panose="020B0604030504040204" pitchFamily="34" charset="0"/>
              </a:rPr>
              <a:t>Accuracy</a:t>
            </a:r>
            <a:r>
              <a:rPr lang="ru-RU" sz="1600" dirty="0" smtClean="0">
                <a:effectLst/>
                <a:latin typeface="Tahoma" panose="020B0604030504040204" pitchFamily="34" charset="0"/>
                <a:ea typeface="Tahoma" panose="020B0604030504040204" pitchFamily="34" charset="0"/>
                <a:cs typeface="Tahoma" panose="020B0604030504040204" pitchFamily="34" charset="0"/>
              </a:rPr>
              <a:t> – 0.99; </a:t>
            </a:r>
          </a:p>
          <a:p>
            <a:pPr marL="285750" indent="-285750" algn="just">
              <a:lnSpc>
                <a:spcPct val="150000"/>
              </a:lnSpc>
              <a:spcAft>
                <a:spcPts val="0"/>
              </a:spcAft>
              <a:buFont typeface="Arial" panose="020B0604020202020204" pitchFamily="34" charset="0"/>
              <a:buChar char="•"/>
            </a:pPr>
            <a:r>
              <a:rPr lang="en-US" sz="1600" dirty="0" smtClean="0">
                <a:effectLst/>
                <a:latin typeface="Tahoma" panose="020B0604030504040204" pitchFamily="34" charset="0"/>
                <a:ea typeface="Tahoma" panose="020B0604030504040204" pitchFamily="34" charset="0"/>
                <a:cs typeface="Tahoma" panose="020B0604030504040204" pitchFamily="34" charset="0"/>
              </a:rPr>
              <a:t>precision</a:t>
            </a:r>
            <a:r>
              <a:rPr lang="ru-RU" sz="1600" dirty="0" smtClean="0">
                <a:effectLst/>
                <a:latin typeface="Tahoma" panose="020B0604030504040204" pitchFamily="34" charset="0"/>
                <a:ea typeface="Tahoma" panose="020B0604030504040204" pitchFamily="34" charset="0"/>
                <a:cs typeface="Tahoma" panose="020B0604030504040204" pitchFamily="34" charset="0"/>
              </a:rPr>
              <a:t>/</a:t>
            </a:r>
            <a:r>
              <a:rPr lang="en-US" sz="1600" dirty="0" smtClean="0">
                <a:effectLst/>
                <a:latin typeface="Tahoma" panose="020B0604030504040204" pitchFamily="34" charset="0"/>
                <a:ea typeface="Tahoma" panose="020B0604030504040204" pitchFamily="34" charset="0"/>
                <a:cs typeface="Tahoma" panose="020B0604030504040204" pitchFamily="34" charset="0"/>
              </a:rPr>
              <a:t>recall</a:t>
            </a:r>
            <a:r>
              <a:rPr lang="ru-RU" sz="1600" dirty="0" smtClean="0">
                <a:effectLst/>
                <a:latin typeface="Tahoma" panose="020B0604030504040204" pitchFamily="34" charset="0"/>
                <a:ea typeface="Tahoma" panose="020B0604030504040204" pitchFamily="34" charset="0"/>
                <a:cs typeface="Tahoma" panose="020B0604030504040204" pitchFamily="34" charset="0"/>
              </a:rPr>
              <a:t>/</a:t>
            </a:r>
            <a:r>
              <a:rPr lang="en-US" sz="1600" dirty="0" smtClean="0">
                <a:effectLst/>
                <a:latin typeface="Tahoma" panose="020B0604030504040204" pitchFamily="34" charset="0"/>
                <a:ea typeface="Tahoma" panose="020B0604030504040204" pitchFamily="34" charset="0"/>
                <a:cs typeface="Tahoma" panose="020B0604030504040204" pitchFamily="34" charset="0"/>
              </a:rPr>
              <a:t>F</a:t>
            </a:r>
            <a:r>
              <a:rPr lang="ru-RU" sz="1600" dirty="0" smtClean="0">
                <a:effectLst/>
                <a:latin typeface="Tahoma" panose="020B0604030504040204" pitchFamily="34" charset="0"/>
                <a:ea typeface="Tahoma" panose="020B0604030504040204" pitchFamily="34" charset="0"/>
                <a:cs typeface="Tahoma" panose="020B0604030504040204" pitchFamily="34" charset="0"/>
              </a:rPr>
              <a:t>1-</a:t>
            </a:r>
            <a:r>
              <a:rPr lang="en-US" sz="1600" dirty="0" smtClean="0">
                <a:effectLst/>
                <a:latin typeface="Tahoma" panose="020B0604030504040204" pitchFamily="34" charset="0"/>
                <a:ea typeface="Tahoma" panose="020B0604030504040204" pitchFamily="34" charset="0"/>
                <a:cs typeface="Tahoma" panose="020B0604030504040204" pitchFamily="34" charset="0"/>
              </a:rPr>
              <a:t>score</a:t>
            </a:r>
            <a:r>
              <a:rPr lang="ru-RU" sz="1600" dirty="0" smtClean="0">
                <a:effectLst/>
                <a:latin typeface="Tahoma" panose="020B0604030504040204" pitchFamily="34" charset="0"/>
                <a:ea typeface="Tahoma" panose="020B0604030504040204" pitchFamily="34" charset="0"/>
                <a:cs typeface="Tahoma" panose="020B0604030504040204" pitchFamily="34" charset="0"/>
              </a:rPr>
              <a:t> – 0.98</a:t>
            </a:r>
            <a:r>
              <a:rPr lang="ru-RU" sz="1600" dirty="0">
                <a:latin typeface="Tahoma" panose="020B0604030504040204" pitchFamily="34" charset="0"/>
                <a:ea typeface="Tahoma" panose="020B0604030504040204" pitchFamily="34" charset="0"/>
                <a:cs typeface="Tahoma" panose="020B0604030504040204" pitchFamily="34" charset="0"/>
              </a:rPr>
              <a:t>;</a:t>
            </a:r>
            <a:r>
              <a:rPr lang="ru-RU" sz="1600" dirty="0" smtClean="0">
                <a:effectLst/>
                <a:latin typeface="Tahoma" panose="020B0604030504040204" pitchFamily="34" charset="0"/>
                <a:ea typeface="Tahoma" panose="020B0604030504040204" pitchFamily="34" charset="0"/>
                <a:cs typeface="Tahoma" panose="020B0604030504040204" pitchFamily="34" charset="0"/>
              </a:rPr>
              <a:t> </a:t>
            </a:r>
          </a:p>
          <a:p>
            <a:pPr marL="285750" indent="-285750" algn="just">
              <a:lnSpc>
                <a:spcPct val="150000"/>
              </a:lnSpc>
              <a:spcAft>
                <a:spcPts val="0"/>
              </a:spcAft>
              <a:buFont typeface="Arial" panose="020B0604020202020204" pitchFamily="34" charset="0"/>
              <a:buChar char="•"/>
            </a:pPr>
            <a:r>
              <a:rPr lang="en-US" sz="1600" dirty="0" smtClean="0">
                <a:effectLst/>
                <a:latin typeface="Tahoma" panose="020B0604030504040204" pitchFamily="34" charset="0"/>
                <a:ea typeface="Tahoma" panose="020B0604030504040204" pitchFamily="34" charset="0"/>
                <a:cs typeface="Tahoma" panose="020B0604030504040204" pitchFamily="34" charset="0"/>
              </a:rPr>
              <a:t>loss</a:t>
            </a:r>
            <a:r>
              <a:rPr lang="ru-RU" sz="1600" dirty="0" smtClean="0">
                <a:effectLst/>
                <a:latin typeface="Tahoma" panose="020B0604030504040204" pitchFamily="34" charset="0"/>
                <a:ea typeface="Tahoma" panose="020B0604030504040204" pitchFamily="34" charset="0"/>
                <a:cs typeface="Tahoma" panose="020B0604030504040204" pitchFamily="34" charset="0"/>
              </a:rPr>
              <a:t> – 0.015.</a:t>
            </a:r>
            <a:endParaRPr lang="ru-RU" sz="1600" dirty="0">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8173456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66404" y="106010"/>
            <a:ext cx="9087605" cy="455381"/>
          </a:xfrm>
        </p:spPr>
        <p:txBody>
          <a:bodyPr/>
          <a:lstStyle/>
          <a:p>
            <a:pPr algn="ctr"/>
            <a:r>
              <a:rPr lang="ru-RU" dirty="0"/>
              <a:t>Анализ принципа работы </a:t>
            </a:r>
            <a:r>
              <a:rPr lang="en-US" dirty="0" err="1"/>
              <a:t>MediaPipe</a:t>
            </a:r>
            <a:endParaRPr lang="ru-RU" dirty="0"/>
          </a:p>
        </p:txBody>
      </p:sp>
      <p:sp>
        <p:nvSpPr>
          <p:cNvPr id="3" name="Текст 2"/>
          <p:cNvSpPr>
            <a:spLocks noGrp="1"/>
          </p:cNvSpPr>
          <p:nvPr>
            <p:ph type="body" idx="1"/>
          </p:nvPr>
        </p:nvSpPr>
        <p:spPr>
          <a:xfrm>
            <a:off x="594077" y="770149"/>
            <a:ext cx="5166643" cy="5897768"/>
          </a:xfrm>
        </p:spPr>
        <p:txBody>
          <a:bodyPr/>
          <a:lstStyle/>
          <a:p>
            <a:pPr>
              <a:lnSpc>
                <a:spcPct val="150000"/>
              </a:lnSpc>
            </a:pPr>
            <a:r>
              <a:rPr lang="ru-RU" sz="1200" dirty="0"/>
              <a:t> </a:t>
            </a:r>
            <a:r>
              <a:rPr lang="ru-RU" sz="1200" dirty="0" smtClean="0"/>
              <a:t>    Используется </a:t>
            </a:r>
            <a:r>
              <a:rPr lang="ru-RU" sz="1200" dirty="0"/>
              <a:t>модель </a:t>
            </a:r>
            <a:r>
              <a:rPr lang="en-US" sz="1200" b="1" dirty="0"/>
              <a:t>Palm Detection</a:t>
            </a:r>
            <a:r>
              <a:rPr lang="ru-RU" sz="1200" dirty="0"/>
              <a:t>, которая обучена находить </a:t>
            </a:r>
            <a:endParaRPr lang="ru-RU" sz="1200" dirty="0" smtClean="0"/>
          </a:p>
          <a:p>
            <a:pPr>
              <a:lnSpc>
                <a:spcPct val="150000"/>
              </a:lnSpc>
            </a:pPr>
            <a:r>
              <a:rPr lang="ru-RU" sz="1200" dirty="0" smtClean="0"/>
              <a:t>ладони </a:t>
            </a:r>
            <a:r>
              <a:rPr lang="ru-RU" sz="1200" dirty="0"/>
              <a:t>на изображениях</a:t>
            </a:r>
            <a:r>
              <a:rPr lang="ru-RU" sz="1200" dirty="0" smtClean="0"/>
              <a:t>.</a:t>
            </a:r>
          </a:p>
          <a:p>
            <a:pPr>
              <a:lnSpc>
                <a:spcPct val="150000"/>
              </a:lnSpc>
            </a:pPr>
            <a:r>
              <a:rPr lang="ru-RU" sz="1200" dirty="0" smtClean="0"/>
              <a:t>     Эта </a:t>
            </a:r>
            <a:r>
              <a:rPr lang="ru-RU" sz="1200" dirty="0"/>
              <a:t>модель основана на </a:t>
            </a:r>
            <a:r>
              <a:rPr lang="ru-RU" sz="1200" dirty="0" err="1"/>
              <a:t>сверточной</a:t>
            </a:r>
            <a:r>
              <a:rPr lang="ru-RU" sz="1200" dirty="0"/>
              <a:t> нейронной сети (</a:t>
            </a:r>
            <a:r>
              <a:rPr lang="en-US" sz="1200" dirty="0"/>
              <a:t>CNN</a:t>
            </a:r>
            <a:r>
              <a:rPr lang="ru-RU" sz="1200" dirty="0"/>
              <a:t>) и оптимизирована для быстрого обнаружения ладоней.</a:t>
            </a:r>
          </a:p>
          <a:p>
            <a:pPr>
              <a:lnSpc>
                <a:spcPct val="150000"/>
              </a:lnSpc>
            </a:pPr>
            <a:r>
              <a:rPr lang="ru-RU" sz="1200" dirty="0" smtClean="0"/>
              <a:t>     Модель </a:t>
            </a:r>
            <a:r>
              <a:rPr lang="ru-RU" sz="1200" dirty="0"/>
              <a:t>выполняет поиск областей изображения, которые могут содержать руку, определение координат </a:t>
            </a:r>
            <a:r>
              <a:rPr lang="en-US" sz="1200" dirty="0"/>
              <a:t>bounding box</a:t>
            </a:r>
            <a:r>
              <a:rPr lang="ru-RU" sz="1200" dirty="0"/>
              <a:t>, обнаружение ладоней работает с высокой скоростью благодаря использованию эффективных архитектур, таких как </a:t>
            </a:r>
            <a:r>
              <a:rPr lang="en-US" sz="1200" dirty="0" err="1"/>
              <a:t>MobileNet</a:t>
            </a:r>
            <a:r>
              <a:rPr lang="ru-RU" sz="1200" dirty="0"/>
              <a:t>, которая использует </a:t>
            </a:r>
            <a:r>
              <a:rPr lang="ru-RU" sz="1200" dirty="0" err="1"/>
              <a:t>Depthwise</a:t>
            </a:r>
            <a:r>
              <a:rPr lang="ru-RU" sz="1200" dirty="0"/>
              <a:t> </a:t>
            </a:r>
            <a:r>
              <a:rPr lang="ru-RU" sz="1200" dirty="0" err="1"/>
              <a:t>Separable</a:t>
            </a:r>
            <a:r>
              <a:rPr lang="ru-RU" sz="1200" dirty="0"/>
              <a:t> </a:t>
            </a:r>
            <a:r>
              <a:rPr lang="ru-RU" sz="1200" dirty="0" err="1" smtClean="0"/>
              <a:t>Convolutions</a:t>
            </a:r>
            <a:r>
              <a:rPr lang="ru-RU" sz="1200" dirty="0" smtClean="0"/>
              <a:t>. </a:t>
            </a:r>
          </a:p>
          <a:p>
            <a:pPr>
              <a:lnSpc>
                <a:spcPct val="150000"/>
              </a:lnSpc>
            </a:pPr>
            <a:r>
              <a:rPr lang="ru-RU" sz="1200" dirty="0"/>
              <a:t> </a:t>
            </a:r>
            <a:r>
              <a:rPr lang="ru-RU" sz="1200" dirty="0" smtClean="0"/>
              <a:t>    </a:t>
            </a:r>
            <a:r>
              <a:rPr lang="en-US" sz="1200" dirty="0" smtClean="0"/>
              <a:t>Palm </a:t>
            </a:r>
            <a:r>
              <a:rPr lang="en-US" sz="1200" dirty="0"/>
              <a:t>Detection</a:t>
            </a:r>
            <a:r>
              <a:rPr lang="ru-RU" sz="1200" dirty="0"/>
              <a:t> фокусируется только на ладонях, что исключает ложные срабатывания для других частей тела.</a:t>
            </a:r>
          </a:p>
          <a:p>
            <a:pPr>
              <a:lnSpc>
                <a:spcPct val="150000"/>
              </a:lnSpc>
            </a:pPr>
            <a:r>
              <a:rPr lang="ru-RU" sz="1200" dirty="0" smtClean="0"/>
              <a:t>     После </a:t>
            </a:r>
            <a:r>
              <a:rPr lang="ru-RU" sz="1200" dirty="0"/>
              <a:t>обнаружения ладони область, ограниченная </a:t>
            </a:r>
            <a:r>
              <a:rPr lang="en-US" sz="1200" dirty="0"/>
              <a:t>bounding box</a:t>
            </a:r>
            <a:r>
              <a:rPr lang="ru-RU" sz="1200" dirty="0"/>
              <a:t>, передается в модель для анализа ключевых точек.</a:t>
            </a:r>
          </a:p>
          <a:p>
            <a:pPr>
              <a:lnSpc>
                <a:spcPct val="150000"/>
              </a:lnSpc>
            </a:pPr>
            <a:r>
              <a:rPr lang="ru-RU" sz="1200" dirty="0" smtClean="0"/>
              <a:t>     Модель </a:t>
            </a:r>
            <a:r>
              <a:rPr lang="ru-RU" sz="1200" dirty="0"/>
              <a:t>выделяет 21 ключевую точку, которые включают основание ладони, суставы каждого пальца (по четыре точки на палец), кончики пальцев.</a:t>
            </a:r>
          </a:p>
          <a:p>
            <a:pPr>
              <a:lnSpc>
                <a:spcPct val="150000"/>
              </a:lnSpc>
            </a:pPr>
            <a:r>
              <a:rPr lang="ru-RU" sz="1200" dirty="0" smtClean="0"/>
              <a:t>     Каждая </a:t>
            </a:r>
            <a:r>
              <a:rPr lang="ru-RU" sz="1200" dirty="0"/>
              <a:t>точка имеет координаты (</a:t>
            </a:r>
            <a:r>
              <a:rPr lang="en-US" sz="1200" dirty="0"/>
              <a:t>x</a:t>
            </a:r>
            <a:r>
              <a:rPr lang="ru-RU" sz="1200" dirty="0"/>
              <a:t>, </a:t>
            </a:r>
            <a:r>
              <a:rPr lang="en-US" sz="1200" dirty="0"/>
              <a:t>y</a:t>
            </a:r>
            <a:r>
              <a:rPr lang="ru-RU" sz="1200" dirty="0"/>
              <a:t>, </a:t>
            </a:r>
            <a:r>
              <a:rPr lang="en-US" sz="1200" dirty="0"/>
              <a:t>z</a:t>
            </a:r>
            <a:r>
              <a:rPr lang="ru-RU" sz="1200" dirty="0"/>
              <a:t>), где: </a:t>
            </a:r>
            <a:endParaRPr lang="ru-RU" sz="1200" dirty="0" smtClean="0"/>
          </a:p>
          <a:p>
            <a:pPr>
              <a:lnSpc>
                <a:spcPct val="150000"/>
              </a:lnSpc>
            </a:pPr>
            <a:r>
              <a:rPr lang="en-US" sz="1200" dirty="0" smtClean="0"/>
              <a:t>x</a:t>
            </a:r>
            <a:r>
              <a:rPr lang="ru-RU" sz="1200" dirty="0" smtClean="0"/>
              <a:t> </a:t>
            </a:r>
            <a:r>
              <a:rPr lang="ru-RU" sz="1200" dirty="0"/>
              <a:t>и </a:t>
            </a:r>
            <a:r>
              <a:rPr lang="en-US" sz="1200" dirty="0"/>
              <a:t>y</a:t>
            </a:r>
            <a:r>
              <a:rPr lang="ru-RU" sz="1200" dirty="0"/>
              <a:t> — координаты в плоскости </a:t>
            </a:r>
            <a:r>
              <a:rPr lang="ru-RU" sz="1200" dirty="0" smtClean="0"/>
              <a:t>изображения</a:t>
            </a:r>
            <a:r>
              <a:rPr lang="ru-RU" sz="1200" dirty="0"/>
              <a:t>;</a:t>
            </a:r>
            <a:r>
              <a:rPr lang="ru-RU" sz="1200" dirty="0" smtClean="0"/>
              <a:t> </a:t>
            </a:r>
          </a:p>
          <a:p>
            <a:pPr>
              <a:lnSpc>
                <a:spcPct val="150000"/>
              </a:lnSpc>
            </a:pPr>
            <a:r>
              <a:rPr lang="en-US" sz="1200" dirty="0" smtClean="0"/>
              <a:t>z</a:t>
            </a:r>
            <a:r>
              <a:rPr lang="ru-RU" sz="1200" dirty="0" smtClean="0"/>
              <a:t> </a:t>
            </a:r>
            <a:r>
              <a:rPr lang="ru-RU" sz="1200" dirty="0"/>
              <a:t>— относительная глубина точки (положение точки относительно центра ладони).</a:t>
            </a:r>
          </a:p>
          <a:p>
            <a:endParaRPr lang="ru-RU" dirty="0"/>
          </a:p>
        </p:txBody>
      </p:sp>
      <p:pic>
        <p:nvPicPr>
          <p:cNvPr id="4" name="Рисунок 3" descr="https://ai.google.dev/static/mediapipe/images/solutions/hand-landmarks.png?hl=ru"/>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61330" y="841121"/>
            <a:ext cx="6173470" cy="2139950"/>
          </a:xfrm>
          <a:prstGeom prst="rect">
            <a:avLst/>
          </a:prstGeom>
          <a:noFill/>
          <a:ln>
            <a:noFill/>
          </a:ln>
        </p:spPr>
      </p:pic>
      <p:sp>
        <p:nvSpPr>
          <p:cNvPr id="5" name="Прямоугольник 4"/>
          <p:cNvSpPr/>
          <p:nvPr/>
        </p:nvSpPr>
        <p:spPr>
          <a:xfrm>
            <a:off x="5471160" y="3022199"/>
            <a:ext cx="6096000" cy="780791"/>
          </a:xfrm>
          <a:prstGeom prst="rect">
            <a:avLst/>
          </a:prstGeom>
        </p:spPr>
        <p:txBody>
          <a:bodyPr>
            <a:spAutoFit/>
          </a:bodyPr>
          <a:lstStyle/>
          <a:p>
            <a:pPr indent="450215" algn="ctr">
              <a:lnSpc>
                <a:spcPct val="150000"/>
              </a:lnSpc>
              <a:spcAft>
                <a:spcPts val="0"/>
              </a:spcAft>
            </a:pPr>
            <a:r>
              <a:rPr lang="ru-RU" sz="1600" dirty="0" smtClean="0">
                <a:effectLst/>
                <a:latin typeface="Tahoma" panose="020B0604030504040204" pitchFamily="34" charset="0"/>
                <a:ea typeface="Tahoma" panose="020B0604030504040204" pitchFamily="34" charset="0"/>
                <a:cs typeface="Tahoma" panose="020B0604030504040204" pitchFamily="34" charset="0"/>
              </a:rPr>
              <a:t>Рисунок 4 – Расположение ключевых точек ладони в </a:t>
            </a:r>
            <a:r>
              <a:rPr lang="en-US" sz="1600" dirty="0" err="1" smtClean="0">
                <a:effectLst/>
                <a:latin typeface="Tahoma" panose="020B0604030504040204" pitchFamily="34" charset="0"/>
                <a:ea typeface="Tahoma" panose="020B0604030504040204" pitchFamily="34" charset="0"/>
                <a:cs typeface="Tahoma" panose="020B0604030504040204" pitchFamily="34" charset="0"/>
              </a:rPr>
              <a:t>MediaPipe</a:t>
            </a:r>
            <a:endParaRPr lang="ru-RU" sz="1600" dirty="0">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930684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253372" y="69434"/>
            <a:ext cx="9087605" cy="455381"/>
          </a:xfrm>
        </p:spPr>
        <p:txBody>
          <a:bodyPr/>
          <a:lstStyle/>
          <a:p>
            <a:r>
              <a:rPr lang="ru-RU" dirty="0"/>
              <a:t>Описание и анализ полученных результатов</a:t>
            </a:r>
          </a:p>
        </p:txBody>
      </p:sp>
      <p:sp>
        <p:nvSpPr>
          <p:cNvPr id="3" name="Текст 2"/>
          <p:cNvSpPr>
            <a:spLocks noGrp="1"/>
          </p:cNvSpPr>
          <p:nvPr>
            <p:ph type="body" idx="1"/>
          </p:nvPr>
        </p:nvSpPr>
        <p:spPr>
          <a:xfrm>
            <a:off x="667512" y="715284"/>
            <a:ext cx="3877056" cy="5447645"/>
          </a:xfrm>
        </p:spPr>
        <p:txBody>
          <a:bodyPr/>
          <a:lstStyle/>
          <a:p>
            <a:pPr>
              <a:lnSpc>
                <a:spcPct val="150000"/>
              </a:lnSpc>
            </a:pPr>
            <a:r>
              <a:rPr lang="ru-RU" sz="1200" b="1" dirty="0"/>
              <a:t>Тестирование метода через собственную модель</a:t>
            </a:r>
          </a:p>
          <a:p>
            <a:pPr>
              <a:lnSpc>
                <a:spcPct val="150000"/>
              </a:lnSpc>
            </a:pPr>
            <a:r>
              <a:rPr lang="ru-RU" sz="1200" dirty="0"/>
              <a:t> </a:t>
            </a:r>
            <a:r>
              <a:rPr lang="ru-RU" sz="1200" dirty="0" smtClean="0"/>
              <a:t>    Для </a:t>
            </a:r>
            <a:r>
              <a:rPr lang="ru-RU" sz="1200" dirty="0"/>
              <a:t>моделирования движения робота на 2D гриде использовалась библиотека </a:t>
            </a:r>
            <a:r>
              <a:rPr lang="en-US" sz="1200" dirty="0" err="1" smtClean="0"/>
              <a:t>matplotlib</a:t>
            </a:r>
            <a:r>
              <a:rPr lang="ru-RU" sz="1200" dirty="0" smtClean="0"/>
              <a:t>.</a:t>
            </a:r>
            <a:endParaRPr lang="ru-RU" sz="1200" dirty="0"/>
          </a:p>
          <a:p>
            <a:endParaRPr lang="ru-RU" sz="1200" dirty="0" smtClean="0"/>
          </a:p>
          <a:p>
            <a:pPr>
              <a:lnSpc>
                <a:spcPct val="150000"/>
              </a:lnSpc>
            </a:pPr>
            <a:r>
              <a:rPr lang="ru-RU" sz="1200" dirty="0" smtClean="0"/>
              <a:t>Алгоритм </a:t>
            </a:r>
            <a:r>
              <a:rPr lang="ru-RU" sz="1200" dirty="0"/>
              <a:t>обработки команд:</a:t>
            </a:r>
          </a:p>
          <a:p>
            <a:pPr>
              <a:lnSpc>
                <a:spcPct val="150000"/>
              </a:lnSpc>
            </a:pPr>
            <a:r>
              <a:rPr lang="ru-RU" sz="1200" dirty="0" smtClean="0"/>
              <a:t>     Каждая </a:t>
            </a:r>
            <a:r>
              <a:rPr lang="ru-RU" sz="1200" dirty="0"/>
              <a:t>команда, полученная от модели классификации (например, «вперед», «вправо»), приводила к перемещению робота на одну клетку в соответствующем направлении. При запуске команды вводится желаемое кол-во шагов, затем веб-камера фиксирует жест на каждый шаг. </a:t>
            </a:r>
            <a:endParaRPr lang="ru-RU" sz="1200" dirty="0" smtClean="0"/>
          </a:p>
          <a:p>
            <a:pPr>
              <a:lnSpc>
                <a:spcPct val="150000"/>
              </a:lnSpc>
            </a:pPr>
            <a:endParaRPr lang="ru-RU" sz="1200" dirty="0"/>
          </a:p>
          <a:p>
            <a:pPr>
              <a:lnSpc>
                <a:spcPct val="150000"/>
              </a:lnSpc>
            </a:pPr>
            <a:r>
              <a:rPr lang="ru-RU" sz="1200" dirty="0" smtClean="0"/>
              <a:t>     Как </a:t>
            </a:r>
            <a:r>
              <a:rPr lang="ru-RU" sz="1200" dirty="0"/>
              <a:t>видно на рисунках модель не очень хорошо справляется на новых данных, не смотря на очень высокие показатели на обучении, такой результат может вызывать отличие качества, освещения на камере, когда модель приспособилась к изображениям первоначального </a:t>
            </a:r>
            <a:r>
              <a:rPr lang="ru-RU" sz="1200" dirty="0" err="1"/>
              <a:t>датасета</a:t>
            </a:r>
            <a:r>
              <a:rPr lang="ru-RU" sz="1200" dirty="0"/>
              <a:t>. </a:t>
            </a:r>
          </a:p>
          <a:p>
            <a:pPr>
              <a:lnSpc>
                <a:spcPct val="150000"/>
              </a:lnSpc>
            </a:pPr>
            <a:endParaRPr lang="ru-RU" sz="1200" dirty="0"/>
          </a:p>
        </p:txBody>
      </p:sp>
      <p:pic>
        <p:nvPicPr>
          <p:cNvPr id="4" name="Рисунок 3"/>
          <p:cNvPicPr/>
          <p:nvPr/>
        </p:nvPicPr>
        <p:blipFill>
          <a:blip r:embed="rId2"/>
          <a:stretch>
            <a:fillRect/>
          </a:stretch>
        </p:blipFill>
        <p:spPr>
          <a:xfrm>
            <a:off x="4912931" y="713295"/>
            <a:ext cx="2567305" cy="2724785"/>
          </a:xfrm>
          <a:prstGeom prst="rect">
            <a:avLst/>
          </a:prstGeom>
        </p:spPr>
      </p:pic>
      <p:pic>
        <p:nvPicPr>
          <p:cNvPr id="5" name="Рисунок 4"/>
          <p:cNvPicPr/>
          <p:nvPr/>
        </p:nvPicPr>
        <p:blipFill>
          <a:blip r:embed="rId3"/>
          <a:stretch>
            <a:fillRect/>
          </a:stretch>
        </p:blipFill>
        <p:spPr>
          <a:xfrm>
            <a:off x="4525518" y="3551872"/>
            <a:ext cx="3451860" cy="2588895"/>
          </a:xfrm>
          <a:prstGeom prst="rect">
            <a:avLst/>
          </a:prstGeom>
        </p:spPr>
      </p:pic>
      <p:pic>
        <p:nvPicPr>
          <p:cNvPr id="6" name="Рисунок 5"/>
          <p:cNvPicPr/>
          <p:nvPr/>
        </p:nvPicPr>
        <p:blipFill>
          <a:blip r:embed="rId4"/>
          <a:stretch>
            <a:fillRect/>
          </a:stretch>
        </p:blipFill>
        <p:spPr>
          <a:xfrm>
            <a:off x="8556180" y="662940"/>
            <a:ext cx="2705735" cy="2880360"/>
          </a:xfrm>
          <a:prstGeom prst="rect">
            <a:avLst/>
          </a:prstGeom>
        </p:spPr>
      </p:pic>
      <p:pic>
        <p:nvPicPr>
          <p:cNvPr id="7" name="Рисунок 6"/>
          <p:cNvPicPr/>
          <p:nvPr/>
        </p:nvPicPr>
        <p:blipFill>
          <a:blip r:embed="rId5"/>
          <a:stretch>
            <a:fillRect/>
          </a:stretch>
        </p:blipFill>
        <p:spPr>
          <a:xfrm>
            <a:off x="8183880" y="3551936"/>
            <a:ext cx="3584448" cy="2583688"/>
          </a:xfrm>
          <a:prstGeom prst="rect">
            <a:avLst/>
          </a:prstGeom>
        </p:spPr>
      </p:pic>
      <p:sp>
        <p:nvSpPr>
          <p:cNvPr id="8" name="Прямоугольник 7"/>
          <p:cNvSpPr/>
          <p:nvPr/>
        </p:nvSpPr>
        <p:spPr>
          <a:xfrm>
            <a:off x="4959096" y="6268319"/>
            <a:ext cx="6096000" cy="415498"/>
          </a:xfrm>
          <a:prstGeom prst="rect">
            <a:avLst/>
          </a:prstGeom>
        </p:spPr>
        <p:txBody>
          <a:bodyPr>
            <a:spAutoFit/>
          </a:bodyPr>
          <a:lstStyle/>
          <a:p>
            <a:pPr indent="450215" algn="ctr">
              <a:lnSpc>
                <a:spcPct val="150000"/>
              </a:lnSpc>
              <a:spcAft>
                <a:spcPts val="0"/>
              </a:spcAft>
            </a:pPr>
            <a:r>
              <a:rPr lang="ru-RU" sz="1400" dirty="0" smtClean="0">
                <a:effectLst/>
                <a:latin typeface="Tahoma" panose="020B0604030504040204" pitchFamily="34" charset="0"/>
                <a:ea typeface="Tahoma" panose="020B0604030504040204" pitchFamily="34" charset="0"/>
                <a:cs typeface="Tahoma" panose="020B0604030504040204" pitchFamily="34" charset="0"/>
              </a:rPr>
              <a:t>Рисунок 5 – Движение робота с помощью собственной модели </a:t>
            </a:r>
            <a:endParaRPr lang="ru-RU" sz="1400" dirty="0">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3779716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253372" y="69434"/>
            <a:ext cx="9087605" cy="455381"/>
          </a:xfrm>
        </p:spPr>
        <p:txBody>
          <a:bodyPr/>
          <a:lstStyle/>
          <a:p>
            <a:r>
              <a:rPr lang="ru-RU" dirty="0"/>
              <a:t>Описание и анализ полученных результатов</a:t>
            </a:r>
          </a:p>
        </p:txBody>
      </p:sp>
      <p:sp>
        <p:nvSpPr>
          <p:cNvPr id="3" name="Текст 2"/>
          <p:cNvSpPr>
            <a:spLocks noGrp="1"/>
          </p:cNvSpPr>
          <p:nvPr>
            <p:ph type="body" idx="1"/>
          </p:nvPr>
        </p:nvSpPr>
        <p:spPr>
          <a:xfrm>
            <a:off x="356616" y="706140"/>
            <a:ext cx="11018520" cy="1477328"/>
          </a:xfrm>
        </p:spPr>
        <p:txBody>
          <a:bodyPr/>
          <a:lstStyle/>
          <a:p>
            <a:pPr>
              <a:lnSpc>
                <a:spcPct val="150000"/>
              </a:lnSpc>
            </a:pPr>
            <a:r>
              <a:rPr lang="ru-RU" sz="1600" b="1" dirty="0"/>
              <a:t>Тестирование метода через </a:t>
            </a:r>
            <a:r>
              <a:rPr lang="en-US" sz="1600" b="1" dirty="0" err="1"/>
              <a:t>MediaPipe</a:t>
            </a:r>
            <a:endParaRPr lang="ru-RU" sz="1600" b="1" dirty="0"/>
          </a:p>
          <a:p>
            <a:pPr>
              <a:lnSpc>
                <a:spcPct val="150000"/>
              </a:lnSpc>
            </a:pPr>
            <a:r>
              <a:rPr lang="ru-RU" sz="1600" dirty="0"/>
              <a:t>На рисунках продемонстрирована работа симуляции движения робота с помощью </a:t>
            </a:r>
            <a:r>
              <a:rPr lang="en-US" sz="1600" dirty="0" err="1" smtClean="0"/>
              <a:t>MediaPipe</a:t>
            </a:r>
            <a:r>
              <a:rPr lang="ru-RU" sz="1600" dirty="0" smtClean="0"/>
              <a:t>.</a:t>
            </a:r>
            <a:endParaRPr lang="ru-RU" sz="1600" dirty="0"/>
          </a:p>
        </p:txBody>
      </p:sp>
      <p:pic>
        <p:nvPicPr>
          <p:cNvPr id="9" name="Рисунок 8"/>
          <p:cNvPicPr/>
          <p:nvPr/>
        </p:nvPicPr>
        <p:blipFill>
          <a:blip r:embed="rId2"/>
          <a:stretch>
            <a:fillRect/>
          </a:stretch>
        </p:blipFill>
        <p:spPr>
          <a:xfrm>
            <a:off x="546608" y="1631442"/>
            <a:ext cx="2278888" cy="3406902"/>
          </a:xfrm>
          <a:prstGeom prst="rect">
            <a:avLst/>
          </a:prstGeom>
        </p:spPr>
      </p:pic>
      <p:pic>
        <p:nvPicPr>
          <p:cNvPr id="10" name="Рисунок 9"/>
          <p:cNvPicPr/>
          <p:nvPr/>
        </p:nvPicPr>
        <p:blipFill>
          <a:blip r:embed="rId3"/>
          <a:stretch>
            <a:fillRect/>
          </a:stretch>
        </p:blipFill>
        <p:spPr>
          <a:xfrm>
            <a:off x="3403473" y="1627632"/>
            <a:ext cx="2302383" cy="3429000"/>
          </a:xfrm>
          <a:prstGeom prst="rect">
            <a:avLst/>
          </a:prstGeom>
        </p:spPr>
      </p:pic>
      <p:pic>
        <p:nvPicPr>
          <p:cNvPr id="11" name="Рисунок 10"/>
          <p:cNvPicPr/>
          <p:nvPr/>
        </p:nvPicPr>
        <p:blipFill>
          <a:blip r:embed="rId4"/>
          <a:stretch>
            <a:fillRect/>
          </a:stretch>
        </p:blipFill>
        <p:spPr>
          <a:xfrm>
            <a:off x="6283833" y="1609344"/>
            <a:ext cx="2293239" cy="3438144"/>
          </a:xfrm>
          <a:prstGeom prst="rect">
            <a:avLst/>
          </a:prstGeom>
        </p:spPr>
      </p:pic>
      <p:pic>
        <p:nvPicPr>
          <p:cNvPr id="12" name="Рисунок 11"/>
          <p:cNvPicPr/>
          <p:nvPr/>
        </p:nvPicPr>
        <p:blipFill>
          <a:blip r:embed="rId5"/>
          <a:stretch>
            <a:fillRect/>
          </a:stretch>
        </p:blipFill>
        <p:spPr>
          <a:xfrm>
            <a:off x="9170861" y="1600200"/>
            <a:ext cx="2286571" cy="3474720"/>
          </a:xfrm>
          <a:prstGeom prst="rect">
            <a:avLst/>
          </a:prstGeom>
        </p:spPr>
      </p:pic>
      <p:sp>
        <p:nvSpPr>
          <p:cNvPr id="13" name="Прямоугольник 12"/>
          <p:cNvSpPr/>
          <p:nvPr/>
        </p:nvSpPr>
        <p:spPr>
          <a:xfrm>
            <a:off x="688848" y="5795394"/>
            <a:ext cx="10695432" cy="738664"/>
          </a:xfrm>
          <a:prstGeom prst="rect">
            <a:avLst/>
          </a:prstGeom>
        </p:spPr>
        <p:txBody>
          <a:bodyPr wrap="square">
            <a:spAutoFit/>
          </a:bodyPr>
          <a:lstStyle/>
          <a:p>
            <a:pPr indent="450215" algn="just">
              <a:lnSpc>
                <a:spcPct val="150000"/>
              </a:lnSpc>
              <a:spcAft>
                <a:spcPts val="0"/>
              </a:spcAft>
            </a:pPr>
            <a:r>
              <a:rPr lang="ru-RU" sz="1400" dirty="0" smtClean="0">
                <a:effectLst/>
                <a:latin typeface="Tahoma" panose="020B0604030504040204" pitchFamily="34" charset="0"/>
                <a:ea typeface="Tahoma" panose="020B0604030504040204" pitchFamily="34" charset="0"/>
                <a:cs typeface="Tahoma" panose="020B0604030504040204" pitchFamily="34" charset="0"/>
              </a:rPr>
              <a:t>Метод распознавания с помощью </a:t>
            </a:r>
            <a:r>
              <a:rPr lang="en-US" sz="1400" dirty="0" err="1" smtClean="0">
                <a:effectLst/>
                <a:latin typeface="Tahoma" panose="020B0604030504040204" pitchFamily="34" charset="0"/>
                <a:ea typeface="Tahoma" panose="020B0604030504040204" pitchFamily="34" charset="0"/>
                <a:cs typeface="Tahoma" panose="020B0604030504040204" pitchFamily="34" charset="0"/>
              </a:rPr>
              <a:t>MediaPipe</a:t>
            </a:r>
            <a:r>
              <a:rPr lang="en-US" sz="1400" dirty="0" smtClean="0">
                <a:effectLst/>
                <a:latin typeface="Tahoma" panose="020B0604030504040204" pitchFamily="34" charset="0"/>
                <a:ea typeface="Tahoma" panose="020B0604030504040204" pitchFamily="34" charset="0"/>
                <a:cs typeface="Tahoma" panose="020B0604030504040204" pitchFamily="34" charset="0"/>
              </a:rPr>
              <a:t> </a:t>
            </a:r>
            <a:r>
              <a:rPr lang="ru-RU" sz="1400" dirty="0" smtClean="0">
                <a:effectLst/>
                <a:latin typeface="Tahoma" panose="020B0604030504040204" pitchFamily="34" charset="0"/>
                <a:ea typeface="Tahoma" panose="020B0604030504040204" pitchFamily="34" charset="0"/>
                <a:cs typeface="Tahoma" panose="020B0604030504040204" pitchFamily="34" charset="0"/>
              </a:rPr>
              <a:t>показал себя намного лучше. Положения жестов очень точно определяются, робот движется так, как мы это задумали.</a:t>
            </a:r>
            <a:endParaRPr lang="ru-RU" sz="1400" dirty="0">
              <a:effectLst/>
              <a:latin typeface="Tahoma" panose="020B0604030504040204" pitchFamily="34" charset="0"/>
              <a:ea typeface="Tahoma" panose="020B0604030504040204" pitchFamily="34" charset="0"/>
              <a:cs typeface="Tahoma" panose="020B0604030504040204" pitchFamily="34" charset="0"/>
            </a:endParaRPr>
          </a:p>
        </p:txBody>
      </p:sp>
      <p:sp>
        <p:nvSpPr>
          <p:cNvPr id="14" name="Прямоугольник 13"/>
          <p:cNvSpPr/>
          <p:nvPr/>
        </p:nvSpPr>
        <p:spPr>
          <a:xfrm>
            <a:off x="-253136" y="5058749"/>
            <a:ext cx="3473388" cy="608693"/>
          </a:xfrm>
          <a:prstGeom prst="rect">
            <a:avLst/>
          </a:prstGeom>
        </p:spPr>
        <p:txBody>
          <a:bodyPr wrap="none">
            <a:spAutoFit/>
          </a:bodyPr>
          <a:lstStyle/>
          <a:p>
            <a:pPr indent="450215" algn="ctr">
              <a:lnSpc>
                <a:spcPct val="150000"/>
              </a:lnSpc>
              <a:spcAft>
                <a:spcPts val="0"/>
              </a:spcAft>
            </a:pPr>
            <a:r>
              <a:rPr lang="ru-RU" sz="1200" dirty="0" smtClean="0">
                <a:effectLst/>
                <a:latin typeface="Tahoma" panose="020B0604030504040204" pitchFamily="34" charset="0"/>
                <a:ea typeface="Tahoma" panose="020B0604030504040204" pitchFamily="34" charset="0"/>
                <a:cs typeface="Tahoma" panose="020B0604030504040204" pitchFamily="34" charset="0"/>
              </a:rPr>
              <a:t>Рисунок 6 – </a:t>
            </a:r>
          </a:p>
          <a:p>
            <a:pPr indent="450215" algn="ctr">
              <a:lnSpc>
                <a:spcPct val="150000"/>
              </a:lnSpc>
              <a:spcAft>
                <a:spcPts val="0"/>
              </a:spcAft>
            </a:pPr>
            <a:r>
              <a:rPr lang="ru-RU" sz="1200" dirty="0" smtClean="0">
                <a:effectLst/>
                <a:latin typeface="Tahoma" panose="020B0604030504040204" pitchFamily="34" charset="0"/>
                <a:ea typeface="Tahoma" panose="020B0604030504040204" pitchFamily="34" charset="0"/>
                <a:cs typeface="Tahoma" panose="020B0604030504040204" pitchFamily="34" charset="0"/>
              </a:rPr>
              <a:t>Движение вправо с помощью </a:t>
            </a:r>
            <a:r>
              <a:rPr lang="en-US" sz="1200" dirty="0" err="1" smtClean="0">
                <a:effectLst/>
                <a:latin typeface="Tahoma" panose="020B0604030504040204" pitchFamily="34" charset="0"/>
                <a:ea typeface="Tahoma" panose="020B0604030504040204" pitchFamily="34" charset="0"/>
                <a:cs typeface="Tahoma" panose="020B0604030504040204" pitchFamily="34" charset="0"/>
              </a:rPr>
              <a:t>MediaPipe</a:t>
            </a:r>
            <a:endParaRPr lang="ru-RU" sz="1200" dirty="0">
              <a:effectLst/>
              <a:latin typeface="Tahoma" panose="020B0604030504040204" pitchFamily="34" charset="0"/>
              <a:ea typeface="Tahoma" panose="020B0604030504040204" pitchFamily="34" charset="0"/>
              <a:cs typeface="Tahoma" panose="020B0604030504040204" pitchFamily="34" charset="0"/>
            </a:endParaRPr>
          </a:p>
        </p:txBody>
      </p:sp>
      <p:sp>
        <p:nvSpPr>
          <p:cNvPr id="15" name="Прямоугольник 14"/>
          <p:cNvSpPr/>
          <p:nvPr/>
        </p:nvSpPr>
        <p:spPr>
          <a:xfrm>
            <a:off x="2734078" y="5067893"/>
            <a:ext cx="3468578" cy="608693"/>
          </a:xfrm>
          <a:prstGeom prst="rect">
            <a:avLst/>
          </a:prstGeom>
        </p:spPr>
        <p:txBody>
          <a:bodyPr wrap="none">
            <a:spAutoFit/>
          </a:bodyPr>
          <a:lstStyle/>
          <a:p>
            <a:pPr indent="450215" algn="ctr">
              <a:lnSpc>
                <a:spcPct val="150000"/>
              </a:lnSpc>
              <a:spcAft>
                <a:spcPts val="0"/>
              </a:spcAft>
            </a:pPr>
            <a:r>
              <a:rPr lang="ru-RU" sz="1200" dirty="0" smtClean="0">
                <a:effectLst/>
                <a:latin typeface="Tahoma" panose="020B0604030504040204" pitchFamily="34" charset="0"/>
                <a:ea typeface="Tahoma" panose="020B0604030504040204" pitchFamily="34" charset="0"/>
                <a:cs typeface="Tahoma" panose="020B0604030504040204" pitchFamily="34" charset="0"/>
              </a:rPr>
              <a:t>Рисунок 7 – </a:t>
            </a:r>
          </a:p>
          <a:p>
            <a:pPr indent="450215" algn="ctr">
              <a:lnSpc>
                <a:spcPct val="150000"/>
              </a:lnSpc>
              <a:spcAft>
                <a:spcPts val="0"/>
              </a:spcAft>
            </a:pPr>
            <a:r>
              <a:rPr lang="ru-RU" sz="1200" dirty="0" smtClean="0">
                <a:effectLst/>
                <a:latin typeface="Tahoma" panose="020B0604030504040204" pitchFamily="34" charset="0"/>
                <a:ea typeface="Tahoma" panose="020B0604030504040204" pitchFamily="34" charset="0"/>
                <a:cs typeface="Tahoma" panose="020B0604030504040204" pitchFamily="34" charset="0"/>
              </a:rPr>
              <a:t>Движение наверх с помощью </a:t>
            </a:r>
            <a:r>
              <a:rPr lang="en-US" sz="1200" dirty="0" err="1" smtClean="0">
                <a:effectLst/>
                <a:latin typeface="Tahoma" panose="020B0604030504040204" pitchFamily="34" charset="0"/>
                <a:ea typeface="Tahoma" panose="020B0604030504040204" pitchFamily="34" charset="0"/>
                <a:cs typeface="Tahoma" panose="020B0604030504040204" pitchFamily="34" charset="0"/>
              </a:rPr>
              <a:t>MediaPipe</a:t>
            </a:r>
            <a:endParaRPr lang="ru-RU" sz="1200" dirty="0">
              <a:effectLst/>
              <a:latin typeface="Tahoma" panose="020B0604030504040204" pitchFamily="34" charset="0"/>
              <a:ea typeface="Tahoma" panose="020B0604030504040204" pitchFamily="34" charset="0"/>
              <a:cs typeface="Tahoma" panose="020B0604030504040204" pitchFamily="34" charset="0"/>
            </a:endParaRPr>
          </a:p>
        </p:txBody>
      </p:sp>
      <p:sp>
        <p:nvSpPr>
          <p:cNvPr id="16" name="Прямоугольник 15"/>
          <p:cNvSpPr/>
          <p:nvPr/>
        </p:nvSpPr>
        <p:spPr>
          <a:xfrm>
            <a:off x="5627081" y="5067893"/>
            <a:ext cx="3388428" cy="608693"/>
          </a:xfrm>
          <a:prstGeom prst="rect">
            <a:avLst/>
          </a:prstGeom>
        </p:spPr>
        <p:txBody>
          <a:bodyPr wrap="none">
            <a:spAutoFit/>
          </a:bodyPr>
          <a:lstStyle/>
          <a:p>
            <a:pPr indent="450215" algn="ctr">
              <a:lnSpc>
                <a:spcPct val="150000"/>
              </a:lnSpc>
              <a:spcAft>
                <a:spcPts val="0"/>
              </a:spcAft>
            </a:pPr>
            <a:r>
              <a:rPr lang="ru-RU" sz="1200" dirty="0" smtClean="0">
                <a:effectLst/>
                <a:latin typeface="Tahoma" panose="020B0604030504040204" pitchFamily="34" charset="0"/>
                <a:ea typeface="Tahoma" panose="020B0604030504040204" pitchFamily="34" charset="0"/>
                <a:cs typeface="Tahoma" panose="020B0604030504040204" pitchFamily="34" charset="0"/>
              </a:rPr>
              <a:t>Рисунок 8 – </a:t>
            </a:r>
          </a:p>
          <a:p>
            <a:pPr indent="450215" algn="ctr">
              <a:lnSpc>
                <a:spcPct val="150000"/>
              </a:lnSpc>
              <a:spcAft>
                <a:spcPts val="0"/>
              </a:spcAft>
            </a:pPr>
            <a:r>
              <a:rPr lang="ru-RU" sz="1200" dirty="0" smtClean="0">
                <a:effectLst/>
                <a:latin typeface="Tahoma" panose="020B0604030504040204" pitchFamily="34" charset="0"/>
                <a:ea typeface="Tahoma" panose="020B0604030504040204" pitchFamily="34" charset="0"/>
                <a:cs typeface="Tahoma" panose="020B0604030504040204" pitchFamily="34" charset="0"/>
              </a:rPr>
              <a:t>Движение влево с помощью </a:t>
            </a:r>
            <a:r>
              <a:rPr lang="en-US" sz="1200" dirty="0" err="1" smtClean="0">
                <a:effectLst/>
                <a:latin typeface="Tahoma" panose="020B0604030504040204" pitchFamily="34" charset="0"/>
                <a:ea typeface="Tahoma" panose="020B0604030504040204" pitchFamily="34" charset="0"/>
                <a:cs typeface="Tahoma" panose="020B0604030504040204" pitchFamily="34" charset="0"/>
              </a:rPr>
              <a:t>MediaPipe</a:t>
            </a:r>
            <a:endParaRPr lang="ru-RU" sz="1200" dirty="0">
              <a:effectLst/>
              <a:latin typeface="Tahoma" panose="020B0604030504040204" pitchFamily="34" charset="0"/>
              <a:ea typeface="Tahoma" panose="020B0604030504040204" pitchFamily="34" charset="0"/>
              <a:cs typeface="Tahoma" panose="020B0604030504040204" pitchFamily="34" charset="0"/>
            </a:endParaRPr>
          </a:p>
        </p:txBody>
      </p:sp>
      <p:sp>
        <p:nvSpPr>
          <p:cNvPr id="17" name="Прямоугольник 16"/>
          <p:cNvSpPr/>
          <p:nvPr/>
        </p:nvSpPr>
        <p:spPr>
          <a:xfrm>
            <a:off x="8550722" y="5067893"/>
            <a:ext cx="3301866" cy="646331"/>
          </a:xfrm>
          <a:prstGeom prst="rect">
            <a:avLst/>
          </a:prstGeom>
        </p:spPr>
        <p:txBody>
          <a:bodyPr wrap="none">
            <a:spAutoFit/>
          </a:bodyPr>
          <a:lstStyle/>
          <a:p>
            <a:pPr indent="450215" algn="ctr">
              <a:lnSpc>
                <a:spcPct val="150000"/>
              </a:lnSpc>
              <a:spcAft>
                <a:spcPts val="0"/>
              </a:spcAft>
            </a:pPr>
            <a:r>
              <a:rPr lang="ru-RU" sz="1200" dirty="0" smtClean="0">
                <a:effectLst/>
                <a:latin typeface="Tahoma" panose="020B0604030504040204" pitchFamily="34" charset="0"/>
                <a:ea typeface="Tahoma" panose="020B0604030504040204" pitchFamily="34" charset="0"/>
                <a:cs typeface="Tahoma" panose="020B0604030504040204" pitchFamily="34" charset="0"/>
              </a:rPr>
              <a:t>Рисунок 9 – </a:t>
            </a:r>
          </a:p>
          <a:p>
            <a:pPr indent="450215" algn="ctr">
              <a:lnSpc>
                <a:spcPct val="150000"/>
              </a:lnSpc>
              <a:spcAft>
                <a:spcPts val="0"/>
              </a:spcAft>
            </a:pPr>
            <a:r>
              <a:rPr lang="ru-RU" sz="1200" dirty="0" smtClean="0">
                <a:effectLst/>
                <a:latin typeface="Tahoma" panose="020B0604030504040204" pitchFamily="34" charset="0"/>
                <a:ea typeface="Tahoma" panose="020B0604030504040204" pitchFamily="34" charset="0"/>
                <a:cs typeface="Tahoma" panose="020B0604030504040204" pitchFamily="34" charset="0"/>
              </a:rPr>
              <a:t>Движение вниз с помощью </a:t>
            </a:r>
            <a:r>
              <a:rPr lang="en-US" sz="1200" dirty="0" err="1" smtClean="0">
                <a:effectLst/>
                <a:latin typeface="Tahoma" panose="020B0604030504040204" pitchFamily="34" charset="0"/>
                <a:ea typeface="Tahoma" panose="020B0604030504040204" pitchFamily="34" charset="0"/>
                <a:cs typeface="Tahoma" panose="020B0604030504040204" pitchFamily="34" charset="0"/>
              </a:rPr>
              <a:t>MediaPipe</a:t>
            </a:r>
            <a:endParaRPr lang="ru-RU" sz="1200" dirty="0">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1755530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774580" y="69434"/>
            <a:ext cx="9087605" cy="455381"/>
          </a:xfrm>
        </p:spPr>
        <p:txBody>
          <a:bodyPr/>
          <a:lstStyle/>
          <a:p>
            <a:r>
              <a:rPr lang="ru-RU" dirty="0"/>
              <a:t>Сравнительный анализ двух методов</a:t>
            </a:r>
          </a:p>
        </p:txBody>
      </p:sp>
      <p:sp>
        <p:nvSpPr>
          <p:cNvPr id="3" name="Текст 2"/>
          <p:cNvSpPr>
            <a:spLocks noGrp="1"/>
          </p:cNvSpPr>
          <p:nvPr>
            <p:ph type="body" idx="1"/>
          </p:nvPr>
        </p:nvSpPr>
        <p:spPr>
          <a:xfrm>
            <a:off x="712948" y="706141"/>
            <a:ext cx="10945651" cy="6143990"/>
          </a:xfrm>
        </p:spPr>
        <p:txBody>
          <a:bodyPr/>
          <a:lstStyle/>
          <a:p>
            <a:pPr algn="ctr"/>
            <a:r>
              <a:rPr lang="ru-RU" sz="1400" dirty="0" smtClean="0"/>
              <a:t>Сравнительный </a:t>
            </a:r>
            <a:r>
              <a:rPr lang="ru-RU" sz="1400" dirty="0"/>
              <a:t>анализ методов: собственная CNN </a:t>
            </a:r>
            <a:r>
              <a:rPr lang="ru-RU" sz="1400" dirty="0" err="1"/>
              <a:t>vs</a:t>
            </a:r>
            <a:r>
              <a:rPr lang="ru-RU" sz="1400" dirty="0"/>
              <a:t> </a:t>
            </a:r>
            <a:r>
              <a:rPr lang="ru-RU" sz="1400" dirty="0" err="1" smtClean="0"/>
              <a:t>MediaPipe</a:t>
            </a:r>
            <a:r>
              <a:rPr lang="ru-RU" sz="1400" dirty="0" smtClean="0"/>
              <a:t>.</a:t>
            </a:r>
            <a:endParaRPr lang="ru-RU" sz="1400" dirty="0"/>
          </a:p>
          <a:p>
            <a:r>
              <a:rPr lang="ru-RU" sz="1400" dirty="0"/>
              <a:t>Для реализации системы управления роботом </a:t>
            </a:r>
            <a:r>
              <a:rPr lang="ru-RU" sz="1400" dirty="0" smtClean="0"/>
              <a:t>жестами </a:t>
            </a:r>
            <a:r>
              <a:rPr lang="ru-RU" sz="1400" dirty="0"/>
              <a:t>протестировали два подхода: использование собственной </a:t>
            </a:r>
            <a:r>
              <a:rPr lang="ru-RU" sz="1400" dirty="0" err="1"/>
              <a:t>сверточной</a:t>
            </a:r>
            <a:r>
              <a:rPr lang="ru-RU" sz="1400" dirty="0"/>
              <a:t> нейронной сети (CNN) и применение </a:t>
            </a:r>
            <a:r>
              <a:rPr lang="ru-RU" sz="1400" dirty="0" err="1"/>
              <a:t>фреймворка</a:t>
            </a:r>
            <a:r>
              <a:rPr lang="ru-RU" sz="1400" dirty="0"/>
              <a:t> </a:t>
            </a:r>
            <a:r>
              <a:rPr lang="ru-RU" sz="1400" dirty="0" err="1" smtClean="0"/>
              <a:t>MediaPipe</a:t>
            </a:r>
            <a:r>
              <a:rPr lang="ru-RU" sz="1400" dirty="0" smtClean="0"/>
              <a:t>, где сравнительный </a:t>
            </a:r>
            <a:r>
              <a:rPr lang="ru-RU" sz="1400" dirty="0"/>
              <a:t>анализ проводился на наборе из 100 жестовых команд в условиях реального </a:t>
            </a:r>
            <a:r>
              <a:rPr lang="ru-RU" sz="1400" dirty="0" smtClean="0"/>
              <a:t>времени.</a:t>
            </a:r>
          </a:p>
          <a:p>
            <a:endParaRPr lang="ru-RU" sz="1400" dirty="0" smtClean="0"/>
          </a:p>
          <a:p>
            <a:pPr marL="171450" indent="-171450">
              <a:buFont typeface="Arial" panose="020B0604020202020204" pitchFamily="34" charset="0"/>
              <a:buChar char="•"/>
            </a:pPr>
            <a:r>
              <a:rPr lang="ru-RU" sz="1400" dirty="0" smtClean="0"/>
              <a:t>Собственная </a:t>
            </a:r>
            <a:r>
              <a:rPr lang="ru-RU" sz="1400" dirty="0"/>
              <a:t>CNN - 46%, низкая устойчивость к изменению угла обзора, освещения. </a:t>
            </a:r>
            <a:endParaRPr lang="ru-RU" sz="1400" dirty="0" smtClean="0"/>
          </a:p>
          <a:p>
            <a:pPr marL="171450" indent="-171450">
              <a:buFont typeface="Arial" panose="020B0604020202020204" pitchFamily="34" charset="0"/>
              <a:buChar char="•"/>
            </a:pPr>
            <a:r>
              <a:rPr lang="ru-RU" sz="1400" dirty="0" err="1" smtClean="0"/>
              <a:t>MediaPipe</a:t>
            </a:r>
            <a:r>
              <a:rPr lang="ru-RU" sz="1400" dirty="0" smtClean="0"/>
              <a:t> </a:t>
            </a:r>
            <a:r>
              <a:rPr lang="ru-RU" sz="1400" dirty="0"/>
              <a:t>- 87%, реже ошибался, но иногда путал схожие жесты.</a:t>
            </a:r>
          </a:p>
          <a:p>
            <a:endParaRPr lang="ru-RU" sz="1400" dirty="0" smtClean="0"/>
          </a:p>
          <a:p>
            <a:r>
              <a:rPr lang="ru-RU" sz="1400" b="1" dirty="0" smtClean="0"/>
              <a:t>Анализ </a:t>
            </a:r>
            <a:r>
              <a:rPr lang="ru-RU" sz="1400" b="1" dirty="0"/>
              <a:t>метода собственной CNN</a:t>
            </a:r>
          </a:p>
          <a:p>
            <a:pPr marL="171450" indent="-171450">
              <a:buFont typeface="Arial" panose="020B0604020202020204" pitchFamily="34" charset="0"/>
              <a:buChar char="•"/>
            </a:pPr>
            <a:r>
              <a:rPr lang="ru-RU" sz="1400" dirty="0"/>
              <a:t>Преимущества: гибкость - модель была разработана специально под задачу, что позволило учитывать специфику набора данных, контроль над архитектурой модели и процессом обучения.</a:t>
            </a:r>
          </a:p>
          <a:p>
            <a:pPr marL="171450" indent="-171450">
              <a:buFont typeface="Arial" panose="020B0604020202020204" pitchFamily="34" charset="0"/>
              <a:buChar char="•"/>
            </a:pPr>
            <a:r>
              <a:rPr lang="ru-RU" sz="1400" dirty="0"/>
              <a:t>Недостатки: для обучения CNN использовался относительно небольшой набор данных, что ограничило способность модели к обобщению. </a:t>
            </a:r>
            <a:endParaRPr lang="ru-RU" sz="1400" dirty="0" smtClean="0"/>
          </a:p>
          <a:p>
            <a:r>
              <a:rPr lang="ru-RU" sz="1400" dirty="0" smtClean="0"/>
              <a:t>Чувствительность </a:t>
            </a:r>
            <a:r>
              <a:rPr lang="ru-RU" sz="1400" dirty="0"/>
              <a:t>к </a:t>
            </a:r>
            <a:r>
              <a:rPr lang="ru-RU" sz="1400" dirty="0" smtClean="0"/>
              <a:t>условиям: </a:t>
            </a:r>
          </a:p>
          <a:p>
            <a:pPr marL="285750" indent="-285750">
              <a:buFont typeface="Arial" panose="020B0604020202020204" pitchFamily="34" charset="0"/>
              <a:buChar char="•"/>
            </a:pPr>
            <a:r>
              <a:rPr lang="ru-RU" sz="1400" dirty="0" smtClean="0"/>
              <a:t>Освещение;</a:t>
            </a:r>
          </a:p>
          <a:p>
            <a:pPr marL="285750" indent="-285750">
              <a:buFont typeface="Arial" panose="020B0604020202020204" pitchFamily="34" charset="0"/>
              <a:buChar char="•"/>
            </a:pPr>
            <a:r>
              <a:rPr lang="ru-RU" sz="1400" dirty="0"/>
              <a:t>У</a:t>
            </a:r>
            <a:r>
              <a:rPr lang="ru-RU" sz="1400" dirty="0" smtClean="0"/>
              <a:t>гол обзора;</a:t>
            </a:r>
          </a:p>
          <a:p>
            <a:pPr marL="285750" indent="-285750">
              <a:buFont typeface="Arial" panose="020B0604020202020204" pitchFamily="34" charset="0"/>
              <a:buChar char="•"/>
            </a:pPr>
            <a:r>
              <a:rPr lang="ru-RU" sz="1400" dirty="0"/>
              <a:t>М</a:t>
            </a:r>
            <a:r>
              <a:rPr lang="ru-RU" sz="1400" dirty="0" smtClean="0"/>
              <a:t>едленная разработка и медленный процесс сбора данных; </a:t>
            </a:r>
          </a:p>
          <a:p>
            <a:pPr marL="285750" indent="-285750">
              <a:buFont typeface="Arial" panose="020B0604020202020204" pitchFamily="34" charset="0"/>
              <a:buChar char="•"/>
            </a:pPr>
            <a:r>
              <a:rPr lang="ru-RU" sz="1400" dirty="0" smtClean="0"/>
              <a:t>Частые причины ошибок (ограничение размера изображений и малое разнообразия </a:t>
            </a:r>
            <a:r>
              <a:rPr lang="ru-RU" sz="1400" dirty="0" err="1" smtClean="0"/>
              <a:t>датасета</a:t>
            </a:r>
            <a:r>
              <a:rPr lang="ru-RU" sz="1400" dirty="0" smtClean="0"/>
              <a:t>).</a:t>
            </a:r>
          </a:p>
          <a:p>
            <a:endParaRPr lang="ru-RU" sz="1400" dirty="0" smtClean="0"/>
          </a:p>
          <a:p>
            <a:r>
              <a:rPr lang="ru-RU" sz="1400" b="1" dirty="0" smtClean="0"/>
              <a:t>Анализ </a:t>
            </a:r>
            <a:r>
              <a:rPr lang="ru-RU" sz="1400" b="1" dirty="0"/>
              <a:t>метода </a:t>
            </a:r>
            <a:r>
              <a:rPr lang="ru-RU" sz="1400" b="1" dirty="0" err="1"/>
              <a:t>MediaPipe</a:t>
            </a:r>
            <a:endParaRPr lang="ru-RU" sz="1400" b="1" dirty="0"/>
          </a:p>
          <a:p>
            <a:pPr marL="285750" indent="-285750">
              <a:buFont typeface="Arial" panose="020B0604020202020204" pitchFamily="34" charset="0"/>
              <a:buChar char="•"/>
            </a:pPr>
            <a:r>
              <a:rPr lang="ru-RU" sz="1400" dirty="0"/>
              <a:t>Преимущества: </a:t>
            </a:r>
            <a:r>
              <a:rPr lang="ru-RU" sz="1400" dirty="0" err="1"/>
              <a:t>MediaPipe</a:t>
            </a:r>
            <a:r>
              <a:rPr lang="ru-RU" sz="1400" dirty="0"/>
              <a:t> предоставляет </a:t>
            </a:r>
            <a:r>
              <a:rPr lang="ru-RU" sz="1400" dirty="0" smtClean="0"/>
              <a:t>пред обученные </a:t>
            </a:r>
            <a:r>
              <a:rPr lang="ru-RU" sz="1400" dirty="0"/>
              <a:t>модули для выделения ключевых точек руки, что значительно ускоряет разработку, интеграция фильтров для сглаживания координат ключевых точек. Устойчивость к изменениям условий съемки, таким как освещение и угол обзора. Использование ключевых точек вместо анализа всего изображения минимизирует количество ошибок.</a:t>
            </a:r>
          </a:p>
          <a:p>
            <a:pPr marL="285750" indent="-285750">
              <a:buFont typeface="Arial" panose="020B0604020202020204" pitchFamily="34" charset="0"/>
              <a:buChar char="•"/>
            </a:pPr>
            <a:r>
              <a:rPr lang="ru-RU" sz="1400" dirty="0"/>
              <a:t>Недостатки: </a:t>
            </a:r>
            <a:r>
              <a:rPr lang="ru-RU" sz="1400" dirty="0" err="1"/>
              <a:t>MediaPipe</a:t>
            </a:r>
            <a:r>
              <a:rPr lang="ru-RU" sz="1400" dirty="0"/>
              <a:t> предлагает универсальную модель, которая не всегда идеально подходит под узкоспециализированные задачи. Несмотря на доступность базовых решений, глубокая адаптация метода требует значительных усилий.</a:t>
            </a:r>
          </a:p>
          <a:p>
            <a:endParaRPr lang="ru-RU" sz="1200" dirty="0" smtClean="0"/>
          </a:p>
          <a:p>
            <a:endParaRPr lang="ru-RU" dirty="0"/>
          </a:p>
        </p:txBody>
      </p:sp>
    </p:spTree>
    <p:extLst>
      <p:ext uri="{BB962C8B-B14F-4D97-AF65-F5344CB8AC3E}">
        <p14:creationId xmlns:p14="http://schemas.microsoft.com/office/powerpoint/2010/main" val="24205148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637420" y="69434"/>
            <a:ext cx="9087605" cy="455381"/>
          </a:xfrm>
        </p:spPr>
        <p:txBody>
          <a:bodyPr/>
          <a:lstStyle/>
          <a:p>
            <a:r>
              <a:rPr lang="ru-RU" dirty="0"/>
              <a:t>Сравнительный анализ двух методов</a:t>
            </a:r>
          </a:p>
        </p:txBody>
      </p:sp>
      <p:sp>
        <p:nvSpPr>
          <p:cNvPr id="3" name="Текст 2"/>
          <p:cNvSpPr>
            <a:spLocks noGrp="1"/>
          </p:cNvSpPr>
          <p:nvPr>
            <p:ph type="body" idx="1"/>
          </p:nvPr>
        </p:nvSpPr>
        <p:spPr>
          <a:xfrm>
            <a:off x="676373" y="916453"/>
            <a:ext cx="10528354" cy="4882106"/>
          </a:xfrm>
        </p:spPr>
        <p:txBody>
          <a:bodyPr/>
          <a:lstStyle/>
          <a:p>
            <a:pPr>
              <a:lnSpc>
                <a:spcPct val="150000"/>
              </a:lnSpc>
            </a:pPr>
            <a:r>
              <a:rPr lang="ru-RU" sz="1400" b="1" dirty="0"/>
              <a:t>Причины большей точности </a:t>
            </a:r>
            <a:r>
              <a:rPr lang="ru-RU" sz="1400" b="1" dirty="0" err="1"/>
              <a:t>MediaPipe</a:t>
            </a:r>
            <a:r>
              <a:rPr lang="ru-RU" sz="1400" b="1" dirty="0"/>
              <a:t>:</a:t>
            </a:r>
          </a:p>
          <a:p>
            <a:pPr marL="285750" indent="-285750">
              <a:lnSpc>
                <a:spcPct val="150000"/>
              </a:lnSpc>
              <a:buFont typeface="Arial" panose="020B0604020202020204" pitchFamily="34" charset="0"/>
              <a:buChar char="•"/>
            </a:pPr>
            <a:r>
              <a:rPr lang="ru-RU" sz="1400" dirty="0" err="1"/>
              <a:t>MediaPipe</a:t>
            </a:r>
            <a:r>
              <a:rPr lang="ru-RU" sz="1400" dirty="0"/>
              <a:t> извлекает координаты 21 ключевой точки руки, что снижает сложность задачи. Вместо анализа всего изображения модель работает с компактными и информативными признаками, а также модели </a:t>
            </a:r>
            <a:r>
              <a:rPr lang="ru-RU" sz="1400" dirty="0" err="1"/>
              <a:t>MediaPipe</a:t>
            </a:r>
            <a:r>
              <a:rPr lang="ru-RU" sz="1400" dirty="0"/>
              <a:t> были обучены на больших объемах разнообразных данных, что улучшает их способность к обобщению</a:t>
            </a:r>
            <a:r>
              <a:rPr lang="ru-RU" sz="1400" dirty="0" smtClean="0"/>
              <a:t>.</a:t>
            </a:r>
          </a:p>
          <a:p>
            <a:pPr marL="285750" indent="-285750">
              <a:lnSpc>
                <a:spcPct val="150000"/>
              </a:lnSpc>
              <a:buFont typeface="Arial" panose="020B0604020202020204" pitchFamily="34" charset="0"/>
              <a:buChar char="•"/>
            </a:pPr>
            <a:endParaRPr lang="ru-RU" sz="1400" dirty="0"/>
          </a:p>
          <a:p>
            <a:pPr marL="285750" indent="-285750">
              <a:lnSpc>
                <a:spcPct val="150000"/>
              </a:lnSpc>
              <a:buFont typeface="Arial" panose="020B0604020202020204" pitchFamily="34" charset="0"/>
              <a:buChar char="•"/>
            </a:pPr>
            <a:r>
              <a:rPr lang="ru-RU" sz="1400" dirty="0"/>
              <a:t>Собственная CNN имеет потенциал для улучшения, однако требует значительно больших усилий для сбора данных, их подготовки и последующей оптимизации</a:t>
            </a:r>
            <a:r>
              <a:rPr lang="ru-RU" sz="1400" dirty="0" smtClean="0"/>
              <a:t>.</a:t>
            </a:r>
          </a:p>
          <a:p>
            <a:pPr marL="285750" indent="-285750">
              <a:lnSpc>
                <a:spcPct val="150000"/>
              </a:lnSpc>
              <a:buFont typeface="Arial" panose="020B0604020202020204" pitchFamily="34" charset="0"/>
              <a:buChar char="•"/>
            </a:pPr>
            <a:endParaRPr lang="ru-RU" sz="1400" dirty="0"/>
          </a:p>
          <a:p>
            <a:pPr marL="285750" indent="-285750">
              <a:lnSpc>
                <a:spcPct val="150000"/>
              </a:lnSpc>
              <a:buFont typeface="Arial" panose="020B0604020202020204" pitchFamily="34" charset="0"/>
              <a:buChar char="•"/>
            </a:pPr>
            <a:r>
              <a:rPr lang="ru-RU" sz="1400" dirty="0"/>
              <a:t>В условиях ограниченного времени и ресурсов </a:t>
            </a:r>
            <a:r>
              <a:rPr lang="ru-RU" sz="1400" dirty="0" err="1"/>
              <a:t>MediaPipe</a:t>
            </a:r>
            <a:r>
              <a:rPr lang="ru-RU" sz="1400" dirty="0"/>
              <a:t> является оптимальным выбором для задач управления жестами. Однако в долгосрочной перспективе разработка собственной модели может быть оправдана для достижения максимально точных результатов в специфических сценариях</a:t>
            </a:r>
            <a:r>
              <a:rPr lang="ru-RU" sz="1400" dirty="0" smtClean="0"/>
              <a:t>.</a:t>
            </a:r>
          </a:p>
          <a:p>
            <a:pPr>
              <a:lnSpc>
                <a:spcPct val="150000"/>
              </a:lnSpc>
            </a:pPr>
            <a:endParaRPr lang="ru-RU" sz="1400" dirty="0"/>
          </a:p>
          <a:p>
            <a:pPr>
              <a:lnSpc>
                <a:spcPct val="150000"/>
              </a:lnSpc>
            </a:pPr>
            <a:r>
              <a:rPr lang="ru-RU" sz="1400" b="1" dirty="0"/>
              <a:t>Таким образом</a:t>
            </a:r>
            <a:r>
              <a:rPr lang="ru-RU" sz="1400" dirty="0"/>
              <a:t>, выбор метода зависит от баланса между необходимостью </a:t>
            </a:r>
            <a:r>
              <a:rPr lang="ru-RU" sz="1400" dirty="0" err="1"/>
              <a:t>кастомизации</a:t>
            </a:r>
            <a:r>
              <a:rPr lang="ru-RU" sz="1400" dirty="0"/>
              <a:t> и доступными ресурсами. В рамках данного проекта использование </a:t>
            </a:r>
            <a:r>
              <a:rPr lang="ru-RU" sz="1400" dirty="0" err="1"/>
              <a:t>MediaPipe</a:t>
            </a:r>
            <a:r>
              <a:rPr lang="ru-RU" sz="1400" dirty="0"/>
              <a:t> позволило достичь высокой точности и сократить время разработки.</a:t>
            </a:r>
          </a:p>
          <a:p>
            <a:endParaRPr lang="ru-RU" dirty="0"/>
          </a:p>
        </p:txBody>
      </p:sp>
    </p:spTree>
    <p:extLst>
      <p:ext uri="{BB962C8B-B14F-4D97-AF65-F5344CB8AC3E}">
        <p14:creationId xmlns:p14="http://schemas.microsoft.com/office/powerpoint/2010/main" val="40046070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722252" y="100584"/>
            <a:ext cx="9087605" cy="910762"/>
          </a:xfrm>
        </p:spPr>
        <p:txBody>
          <a:bodyPr/>
          <a:lstStyle/>
          <a:p>
            <a:r>
              <a:rPr lang="ru-RU" dirty="0"/>
              <a:t>Заключение </a:t>
            </a:r>
            <a:r>
              <a:rPr lang="ru-RU" b="1" dirty="0"/>
              <a:t/>
            </a:r>
            <a:br>
              <a:rPr lang="ru-RU" b="1" dirty="0"/>
            </a:br>
            <a:endParaRPr lang="ru-RU" dirty="0"/>
          </a:p>
        </p:txBody>
      </p:sp>
      <p:sp>
        <p:nvSpPr>
          <p:cNvPr id="3" name="Текст 2"/>
          <p:cNvSpPr>
            <a:spLocks noGrp="1"/>
          </p:cNvSpPr>
          <p:nvPr>
            <p:ph type="body" idx="1"/>
          </p:nvPr>
        </p:nvSpPr>
        <p:spPr>
          <a:xfrm>
            <a:off x="667512" y="889021"/>
            <a:ext cx="10985271" cy="5097549"/>
          </a:xfrm>
        </p:spPr>
        <p:txBody>
          <a:bodyPr/>
          <a:lstStyle/>
          <a:p>
            <a:pPr marL="285750" indent="-285750">
              <a:buFont typeface="Arial" panose="020B0604020202020204" pitchFamily="34" charset="0"/>
              <a:buChar char="•"/>
            </a:pPr>
            <a:r>
              <a:rPr lang="ru-RU" sz="1400" dirty="0" smtClean="0"/>
              <a:t>В </a:t>
            </a:r>
            <a:r>
              <a:rPr lang="ru-RU" sz="1400" dirty="0"/>
              <a:t>ходе выполнения данной работы была разработана система управления роботом с использованием жестов, которая сочетает в себе методы машинного обучения и симуляцию движений на 2D гриде. </a:t>
            </a:r>
            <a:endParaRPr lang="ru-RU" sz="1400" dirty="0" smtClean="0"/>
          </a:p>
          <a:p>
            <a:pPr marL="285750" indent="-285750">
              <a:buFont typeface="Arial" panose="020B0604020202020204" pitchFamily="34" charset="0"/>
              <a:buChar char="•"/>
            </a:pPr>
            <a:endParaRPr lang="ru-RU" sz="1400" dirty="0"/>
          </a:p>
          <a:p>
            <a:pPr marL="285750" indent="-285750">
              <a:buFont typeface="Arial" panose="020B0604020202020204" pitchFamily="34" charset="0"/>
              <a:buChar char="•"/>
            </a:pPr>
            <a:r>
              <a:rPr lang="ru-RU" sz="1400" dirty="0" smtClean="0"/>
              <a:t>В </a:t>
            </a:r>
            <a:r>
              <a:rPr lang="ru-RU" sz="1400" dirty="0"/>
              <a:t>результате исследования была реализована классификационная модель на основе </a:t>
            </a:r>
            <a:r>
              <a:rPr lang="ru-RU" sz="1400" dirty="0" err="1"/>
              <a:t>сверточной</a:t>
            </a:r>
            <a:r>
              <a:rPr lang="ru-RU" sz="1400" dirty="0"/>
              <a:t> нейронной сети (CNN) для распознавания жестов, а также создана симуляция движения робота, использующая команды, полученные от модели.</a:t>
            </a:r>
          </a:p>
          <a:p>
            <a:pPr marL="285750" indent="-285750">
              <a:buFont typeface="Arial" panose="020B0604020202020204" pitchFamily="34" charset="0"/>
              <a:buChar char="•"/>
            </a:pPr>
            <a:endParaRPr lang="ru-RU" sz="1400" dirty="0" smtClean="0"/>
          </a:p>
          <a:p>
            <a:pPr marL="285750" indent="-285750">
              <a:buFont typeface="Arial" panose="020B0604020202020204" pitchFamily="34" charset="0"/>
              <a:buChar char="•"/>
            </a:pPr>
            <a:r>
              <a:rPr lang="ru-RU" sz="1400" dirty="0" smtClean="0"/>
              <a:t>Модель</a:t>
            </a:r>
            <a:r>
              <a:rPr lang="ru-RU" sz="1400" dirty="0"/>
              <a:t>, использующая инструменты </a:t>
            </a:r>
            <a:r>
              <a:rPr lang="en-US" sz="1400" dirty="0" err="1"/>
              <a:t>Mediapipe</a:t>
            </a:r>
            <a:r>
              <a:rPr lang="ru-RU" sz="1400" dirty="0"/>
              <a:t>, показала высокую точность классификации (87%), что подтверждает ее эффективность для распознавания основных жестов, таких как «вперед», «вправо», «влево» и «</a:t>
            </a:r>
            <a:r>
              <a:rPr lang="ru-RU" sz="1400" dirty="0" smtClean="0"/>
              <a:t>вниз» благодаря симуляции движения на 2</a:t>
            </a:r>
            <a:r>
              <a:rPr lang="en-US" sz="1400" dirty="0" smtClean="0"/>
              <a:t>D</a:t>
            </a:r>
            <a:r>
              <a:rPr lang="ru-RU" sz="1400" dirty="0" smtClean="0"/>
              <a:t> гриде.</a:t>
            </a:r>
            <a:endParaRPr lang="ru-RU" sz="1400" dirty="0"/>
          </a:p>
          <a:p>
            <a:pPr marL="285750" indent="-285750">
              <a:buFont typeface="Arial" panose="020B0604020202020204" pitchFamily="34" charset="0"/>
              <a:buChar char="•"/>
            </a:pPr>
            <a:endParaRPr lang="ru-RU" sz="1400" dirty="0" smtClean="0"/>
          </a:p>
          <a:p>
            <a:pPr marL="285750" indent="-285750">
              <a:buFont typeface="Arial" panose="020B0604020202020204" pitchFamily="34" charset="0"/>
              <a:buChar char="•"/>
            </a:pPr>
            <a:r>
              <a:rPr lang="ru-RU" sz="1400" dirty="0" smtClean="0"/>
              <a:t>Тестирование </a:t>
            </a:r>
            <a:r>
              <a:rPr lang="ru-RU" sz="1400" dirty="0"/>
              <a:t>и анализ: в процессе тестирования были выявлены </a:t>
            </a:r>
            <a:r>
              <a:rPr lang="ru-RU" sz="1400" dirty="0" smtClean="0"/>
              <a:t>сильные стороны, а также </a:t>
            </a:r>
            <a:r>
              <a:rPr lang="ru-RU" sz="1400" dirty="0"/>
              <a:t>и ограничения</a:t>
            </a:r>
            <a:r>
              <a:rPr lang="ru-RU" sz="1400" dirty="0" smtClean="0"/>
              <a:t> системы.</a:t>
            </a:r>
            <a:endParaRPr lang="ru-RU" sz="1400" dirty="0"/>
          </a:p>
          <a:p>
            <a:pPr marL="285750" indent="-285750">
              <a:buFont typeface="Arial" panose="020B0604020202020204" pitchFamily="34" charset="0"/>
              <a:buChar char="•"/>
            </a:pPr>
            <a:endParaRPr lang="ru-RU" sz="1400" dirty="0" smtClean="0"/>
          </a:p>
          <a:p>
            <a:pPr marL="285750" indent="-285750">
              <a:buFont typeface="Arial" panose="020B0604020202020204" pitchFamily="34" charset="0"/>
              <a:buChar char="•"/>
            </a:pPr>
            <a:r>
              <a:rPr lang="ru-RU" sz="1400" dirty="0" smtClean="0"/>
              <a:t>Полученные </a:t>
            </a:r>
            <a:r>
              <a:rPr lang="ru-RU" sz="1400" dirty="0"/>
              <a:t>результаты показывают, что предложенная система имеет высокие перспективы для использования в различных областях, где требуются интуитивно понятные способы </a:t>
            </a:r>
            <a:r>
              <a:rPr lang="ru-RU" sz="1400" dirty="0" smtClean="0"/>
              <a:t>управления.</a:t>
            </a:r>
            <a:r>
              <a:rPr lang="ru-RU" sz="1400" dirty="0"/>
              <a:t> </a:t>
            </a:r>
            <a:r>
              <a:rPr lang="ru-RU" sz="1400" dirty="0" smtClean="0"/>
              <a:t>Однако</a:t>
            </a:r>
            <a:r>
              <a:rPr lang="ru-RU" sz="1400" dirty="0"/>
              <a:t>, несмотря на достигнутые результаты, система требует доработки для повышения устойчивости к реальным условиям </a:t>
            </a:r>
            <a:r>
              <a:rPr lang="ru-RU" sz="1400" dirty="0" smtClean="0"/>
              <a:t>эксплуатации, куда входит разный угол, освещение и качество видеоизображения. </a:t>
            </a:r>
          </a:p>
          <a:p>
            <a:pPr marL="285750" indent="-285750">
              <a:buFont typeface="Arial" panose="020B0604020202020204" pitchFamily="34" charset="0"/>
              <a:buChar char="•"/>
            </a:pPr>
            <a:endParaRPr lang="ru-RU" sz="1400" dirty="0"/>
          </a:p>
          <a:p>
            <a:pPr marL="285750" indent="-285750">
              <a:buFont typeface="Arial" panose="020B0604020202020204" pitchFamily="34" charset="0"/>
              <a:buChar char="•"/>
            </a:pPr>
            <a:r>
              <a:rPr lang="ru-RU" sz="1400" dirty="0" smtClean="0"/>
              <a:t>Перспективы </a:t>
            </a:r>
            <a:r>
              <a:rPr lang="ru-RU" sz="1400" dirty="0"/>
              <a:t>дальнейшего развития включают внедрение более сложных архитектур для распознавания жестов, интеграцию системы с реальными роботами, а также расширение функционала за счет использования дополнительных сенсоров и улучшения интерфейса взаимодействия с пользователем. В целом, результаты работы открывают новые возможности для создания более гибких и удобных систем управления на основе жестов, что представляет собой важный шаг вперед в области робототехники и взаимодействия человека с машиной.</a:t>
            </a:r>
          </a:p>
          <a:p>
            <a:pPr marL="342900" indent="-342900">
              <a:buFont typeface="Arial" panose="020B0604020202020204" pitchFamily="34" charset="0"/>
              <a:buChar char="•"/>
            </a:pPr>
            <a:endParaRPr lang="ru-RU" dirty="0"/>
          </a:p>
        </p:txBody>
      </p:sp>
    </p:spTree>
    <p:extLst>
      <p:ext uri="{BB962C8B-B14F-4D97-AF65-F5344CB8AC3E}">
        <p14:creationId xmlns:p14="http://schemas.microsoft.com/office/powerpoint/2010/main" val="25328126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2"/>
          <p:cNvSpPr/>
          <p:nvPr/>
        </p:nvSpPr>
        <p:spPr>
          <a:xfrm>
            <a:off x="38" y="0"/>
            <a:ext cx="12191962" cy="6857841"/>
          </a:xfrm>
          <a:custGeom>
            <a:avLst/>
            <a:gdLst/>
            <a:ahLst/>
            <a:cxnLst/>
            <a:rect l="l" t="t" r="r" b="b"/>
            <a:pathLst>
              <a:path w="5760085" h="3240405">
                <a:moveTo>
                  <a:pt x="5759826" y="3239901"/>
                </a:moveTo>
                <a:lnTo>
                  <a:pt x="0" y="3239901"/>
                </a:lnTo>
                <a:lnTo>
                  <a:pt x="0" y="0"/>
                </a:lnTo>
                <a:lnTo>
                  <a:pt x="5759826" y="0"/>
                </a:lnTo>
                <a:lnTo>
                  <a:pt x="5759826" y="3239901"/>
                </a:lnTo>
                <a:close/>
              </a:path>
            </a:pathLst>
          </a:custGeom>
          <a:solidFill>
            <a:srgbClr val="1846BA"/>
          </a:solidFill>
        </p:spPr>
        <p:txBody>
          <a:bodyPr wrap="square" lIns="0" tIns="0" rIns="0" bIns="0" rtlCol="0"/>
          <a:lstStyle/>
          <a:p>
            <a:endParaRPr dirty="0"/>
          </a:p>
        </p:txBody>
      </p:sp>
      <p:pic>
        <p:nvPicPr>
          <p:cNvPr id="5" name="object 45"/>
          <p:cNvPicPr/>
          <p:nvPr/>
        </p:nvPicPr>
        <p:blipFill>
          <a:blip r:embed="rId2" cstate="print"/>
          <a:stretch>
            <a:fillRect/>
          </a:stretch>
        </p:blipFill>
        <p:spPr>
          <a:xfrm>
            <a:off x="5129784" y="1468073"/>
            <a:ext cx="2011680" cy="159559"/>
          </a:xfrm>
          <a:prstGeom prst="rect">
            <a:avLst/>
          </a:prstGeom>
        </p:spPr>
      </p:pic>
      <p:grpSp>
        <p:nvGrpSpPr>
          <p:cNvPr id="6" name="object 34"/>
          <p:cNvGrpSpPr/>
          <p:nvPr/>
        </p:nvGrpSpPr>
        <p:grpSpPr>
          <a:xfrm>
            <a:off x="5208438" y="213567"/>
            <a:ext cx="1649562" cy="947721"/>
            <a:chOff x="2556678" y="433023"/>
            <a:chExt cx="518159" cy="300355"/>
          </a:xfrm>
        </p:grpSpPr>
        <p:sp>
          <p:nvSpPr>
            <p:cNvPr id="7" name="object 35"/>
            <p:cNvSpPr/>
            <p:nvPr/>
          </p:nvSpPr>
          <p:spPr>
            <a:xfrm>
              <a:off x="2682303" y="461403"/>
              <a:ext cx="392430" cy="243840"/>
            </a:xfrm>
            <a:custGeom>
              <a:avLst/>
              <a:gdLst/>
              <a:ahLst/>
              <a:cxnLst/>
              <a:rect l="l" t="t" r="r" b="b"/>
              <a:pathLst>
                <a:path w="392430" h="243840">
                  <a:moveTo>
                    <a:pt x="48996" y="121767"/>
                  </a:moveTo>
                  <a:lnTo>
                    <a:pt x="47078" y="112229"/>
                  </a:lnTo>
                  <a:lnTo>
                    <a:pt x="41821" y="104444"/>
                  </a:lnTo>
                  <a:lnTo>
                    <a:pt x="34036" y="99187"/>
                  </a:lnTo>
                  <a:lnTo>
                    <a:pt x="24485" y="97269"/>
                  </a:lnTo>
                  <a:lnTo>
                    <a:pt x="14960" y="99187"/>
                  </a:lnTo>
                  <a:lnTo>
                    <a:pt x="7175" y="104444"/>
                  </a:lnTo>
                  <a:lnTo>
                    <a:pt x="1930" y="112229"/>
                  </a:lnTo>
                  <a:lnTo>
                    <a:pt x="0" y="121767"/>
                  </a:lnTo>
                  <a:lnTo>
                    <a:pt x="1930" y="131292"/>
                  </a:lnTo>
                  <a:lnTo>
                    <a:pt x="7175" y="139077"/>
                  </a:lnTo>
                  <a:lnTo>
                    <a:pt x="14960" y="144335"/>
                  </a:lnTo>
                  <a:lnTo>
                    <a:pt x="24485" y="146253"/>
                  </a:lnTo>
                  <a:lnTo>
                    <a:pt x="34036" y="144335"/>
                  </a:lnTo>
                  <a:lnTo>
                    <a:pt x="41821" y="139077"/>
                  </a:lnTo>
                  <a:lnTo>
                    <a:pt x="47078" y="131292"/>
                  </a:lnTo>
                  <a:lnTo>
                    <a:pt x="48996" y="121767"/>
                  </a:lnTo>
                  <a:close/>
                </a:path>
                <a:path w="392430" h="243840">
                  <a:moveTo>
                    <a:pt x="48996" y="51460"/>
                  </a:moveTo>
                  <a:lnTo>
                    <a:pt x="47078" y="41935"/>
                  </a:lnTo>
                  <a:lnTo>
                    <a:pt x="41821" y="34150"/>
                  </a:lnTo>
                  <a:lnTo>
                    <a:pt x="34036" y="28892"/>
                  </a:lnTo>
                  <a:lnTo>
                    <a:pt x="24485" y="26974"/>
                  </a:lnTo>
                  <a:lnTo>
                    <a:pt x="14960" y="28892"/>
                  </a:lnTo>
                  <a:lnTo>
                    <a:pt x="7175" y="34150"/>
                  </a:lnTo>
                  <a:lnTo>
                    <a:pt x="1930" y="41935"/>
                  </a:lnTo>
                  <a:lnTo>
                    <a:pt x="0" y="51460"/>
                  </a:lnTo>
                  <a:lnTo>
                    <a:pt x="1930" y="60998"/>
                  </a:lnTo>
                  <a:lnTo>
                    <a:pt x="7175" y="68783"/>
                  </a:lnTo>
                  <a:lnTo>
                    <a:pt x="14960" y="74041"/>
                  </a:lnTo>
                  <a:lnTo>
                    <a:pt x="24485" y="75971"/>
                  </a:lnTo>
                  <a:lnTo>
                    <a:pt x="34036" y="74041"/>
                  </a:lnTo>
                  <a:lnTo>
                    <a:pt x="41821" y="68783"/>
                  </a:lnTo>
                  <a:lnTo>
                    <a:pt x="47078" y="60998"/>
                  </a:lnTo>
                  <a:lnTo>
                    <a:pt x="48996" y="51460"/>
                  </a:lnTo>
                  <a:close/>
                </a:path>
                <a:path w="392430" h="243840">
                  <a:moveTo>
                    <a:pt x="111125" y="218173"/>
                  </a:moveTo>
                  <a:lnTo>
                    <a:pt x="103822" y="210870"/>
                  </a:lnTo>
                  <a:lnTo>
                    <a:pt x="85763" y="210870"/>
                  </a:lnTo>
                  <a:lnTo>
                    <a:pt x="78460" y="218173"/>
                  </a:lnTo>
                  <a:lnTo>
                    <a:pt x="78460" y="236232"/>
                  </a:lnTo>
                  <a:lnTo>
                    <a:pt x="85763" y="243535"/>
                  </a:lnTo>
                  <a:lnTo>
                    <a:pt x="103822" y="243535"/>
                  </a:lnTo>
                  <a:lnTo>
                    <a:pt x="111125" y="236232"/>
                  </a:lnTo>
                  <a:lnTo>
                    <a:pt x="111125" y="227190"/>
                  </a:lnTo>
                  <a:lnTo>
                    <a:pt x="111125" y="218173"/>
                  </a:lnTo>
                  <a:close/>
                </a:path>
                <a:path w="392430" h="243840">
                  <a:moveTo>
                    <a:pt x="119291" y="156908"/>
                  </a:moveTo>
                  <a:lnTo>
                    <a:pt x="117360" y="147370"/>
                  </a:lnTo>
                  <a:lnTo>
                    <a:pt x="112115" y="139585"/>
                  </a:lnTo>
                  <a:lnTo>
                    <a:pt x="104330" y="134340"/>
                  </a:lnTo>
                  <a:lnTo>
                    <a:pt x="94805" y="132410"/>
                  </a:lnTo>
                  <a:lnTo>
                    <a:pt x="85267" y="134340"/>
                  </a:lnTo>
                  <a:lnTo>
                    <a:pt x="77470" y="139585"/>
                  </a:lnTo>
                  <a:lnTo>
                    <a:pt x="72224" y="147370"/>
                  </a:lnTo>
                  <a:lnTo>
                    <a:pt x="70294" y="156908"/>
                  </a:lnTo>
                  <a:lnTo>
                    <a:pt x="72224" y="166446"/>
                  </a:lnTo>
                  <a:lnTo>
                    <a:pt x="77470" y="174231"/>
                  </a:lnTo>
                  <a:lnTo>
                    <a:pt x="85267" y="179489"/>
                  </a:lnTo>
                  <a:lnTo>
                    <a:pt x="94805" y="181406"/>
                  </a:lnTo>
                  <a:lnTo>
                    <a:pt x="104330" y="179489"/>
                  </a:lnTo>
                  <a:lnTo>
                    <a:pt x="112115" y="174231"/>
                  </a:lnTo>
                  <a:lnTo>
                    <a:pt x="117360" y="166446"/>
                  </a:lnTo>
                  <a:lnTo>
                    <a:pt x="119291" y="156908"/>
                  </a:lnTo>
                  <a:close/>
                </a:path>
                <a:path w="392430" h="243840">
                  <a:moveTo>
                    <a:pt x="119291" y="86614"/>
                  </a:moveTo>
                  <a:lnTo>
                    <a:pt x="117360" y="77089"/>
                  </a:lnTo>
                  <a:lnTo>
                    <a:pt x="112115" y="69303"/>
                  </a:lnTo>
                  <a:lnTo>
                    <a:pt x="104330" y="64058"/>
                  </a:lnTo>
                  <a:lnTo>
                    <a:pt x="94805" y="62128"/>
                  </a:lnTo>
                  <a:lnTo>
                    <a:pt x="85267" y="64058"/>
                  </a:lnTo>
                  <a:lnTo>
                    <a:pt x="77470" y="69303"/>
                  </a:lnTo>
                  <a:lnTo>
                    <a:pt x="72224" y="77089"/>
                  </a:lnTo>
                  <a:lnTo>
                    <a:pt x="70294" y="86614"/>
                  </a:lnTo>
                  <a:lnTo>
                    <a:pt x="72224" y="96151"/>
                  </a:lnTo>
                  <a:lnTo>
                    <a:pt x="77470" y="103936"/>
                  </a:lnTo>
                  <a:lnTo>
                    <a:pt x="85267" y="109181"/>
                  </a:lnTo>
                  <a:lnTo>
                    <a:pt x="94805" y="111099"/>
                  </a:lnTo>
                  <a:lnTo>
                    <a:pt x="104330" y="109181"/>
                  </a:lnTo>
                  <a:lnTo>
                    <a:pt x="112115" y="103936"/>
                  </a:lnTo>
                  <a:lnTo>
                    <a:pt x="117360" y="96151"/>
                  </a:lnTo>
                  <a:lnTo>
                    <a:pt x="119291" y="86614"/>
                  </a:lnTo>
                  <a:close/>
                </a:path>
                <a:path w="392430" h="243840">
                  <a:moveTo>
                    <a:pt x="181419" y="183045"/>
                  </a:moveTo>
                  <a:lnTo>
                    <a:pt x="174104" y="175742"/>
                  </a:lnTo>
                  <a:lnTo>
                    <a:pt x="156083" y="175742"/>
                  </a:lnTo>
                  <a:lnTo>
                    <a:pt x="148767" y="183045"/>
                  </a:lnTo>
                  <a:lnTo>
                    <a:pt x="148767" y="201079"/>
                  </a:lnTo>
                  <a:lnTo>
                    <a:pt x="156083" y="208381"/>
                  </a:lnTo>
                  <a:lnTo>
                    <a:pt x="174104" y="208381"/>
                  </a:lnTo>
                  <a:lnTo>
                    <a:pt x="181419" y="201079"/>
                  </a:lnTo>
                  <a:lnTo>
                    <a:pt x="181419" y="192062"/>
                  </a:lnTo>
                  <a:lnTo>
                    <a:pt x="181419" y="183045"/>
                  </a:lnTo>
                  <a:close/>
                </a:path>
                <a:path w="392430" h="243840">
                  <a:moveTo>
                    <a:pt x="181419" y="42443"/>
                  </a:moveTo>
                  <a:lnTo>
                    <a:pt x="174104" y="35128"/>
                  </a:lnTo>
                  <a:lnTo>
                    <a:pt x="156083" y="35128"/>
                  </a:lnTo>
                  <a:lnTo>
                    <a:pt x="148767" y="42443"/>
                  </a:lnTo>
                  <a:lnTo>
                    <a:pt x="148767" y="60477"/>
                  </a:lnTo>
                  <a:lnTo>
                    <a:pt x="156083" y="67805"/>
                  </a:lnTo>
                  <a:lnTo>
                    <a:pt x="174104" y="67805"/>
                  </a:lnTo>
                  <a:lnTo>
                    <a:pt x="181419" y="60477"/>
                  </a:lnTo>
                  <a:lnTo>
                    <a:pt x="181419" y="51460"/>
                  </a:lnTo>
                  <a:lnTo>
                    <a:pt x="181419" y="42443"/>
                  </a:lnTo>
                  <a:close/>
                </a:path>
                <a:path w="392430" h="243840">
                  <a:moveTo>
                    <a:pt x="189585" y="121767"/>
                  </a:moveTo>
                  <a:lnTo>
                    <a:pt x="187655" y="112229"/>
                  </a:lnTo>
                  <a:lnTo>
                    <a:pt x="182410" y="104444"/>
                  </a:lnTo>
                  <a:lnTo>
                    <a:pt x="174625" y="99187"/>
                  </a:lnTo>
                  <a:lnTo>
                    <a:pt x="165100" y="97269"/>
                  </a:lnTo>
                  <a:lnTo>
                    <a:pt x="155562" y="99187"/>
                  </a:lnTo>
                  <a:lnTo>
                    <a:pt x="147777" y="104444"/>
                  </a:lnTo>
                  <a:lnTo>
                    <a:pt x="142532" y="112229"/>
                  </a:lnTo>
                  <a:lnTo>
                    <a:pt x="140614" y="121767"/>
                  </a:lnTo>
                  <a:lnTo>
                    <a:pt x="142532" y="131292"/>
                  </a:lnTo>
                  <a:lnTo>
                    <a:pt x="147777" y="139077"/>
                  </a:lnTo>
                  <a:lnTo>
                    <a:pt x="155562" y="144335"/>
                  </a:lnTo>
                  <a:lnTo>
                    <a:pt x="165100" y="146253"/>
                  </a:lnTo>
                  <a:lnTo>
                    <a:pt x="174625" y="144335"/>
                  </a:lnTo>
                  <a:lnTo>
                    <a:pt x="182410" y="139077"/>
                  </a:lnTo>
                  <a:lnTo>
                    <a:pt x="187655" y="131292"/>
                  </a:lnTo>
                  <a:lnTo>
                    <a:pt x="189585" y="121767"/>
                  </a:lnTo>
                  <a:close/>
                </a:path>
                <a:path w="392430" h="243840">
                  <a:moveTo>
                    <a:pt x="251714" y="218173"/>
                  </a:moveTo>
                  <a:lnTo>
                    <a:pt x="244398" y="210870"/>
                  </a:lnTo>
                  <a:lnTo>
                    <a:pt x="226364" y="210870"/>
                  </a:lnTo>
                  <a:lnTo>
                    <a:pt x="219062" y="218173"/>
                  </a:lnTo>
                  <a:lnTo>
                    <a:pt x="219062" y="236232"/>
                  </a:lnTo>
                  <a:lnTo>
                    <a:pt x="226364" y="243535"/>
                  </a:lnTo>
                  <a:lnTo>
                    <a:pt x="244398" y="243535"/>
                  </a:lnTo>
                  <a:lnTo>
                    <a:pt x="251714" y="236232"/>
                  </a:lnTo>
                  <a:lnTo>
                    <a:pt x="251714" y="227190"/>
                  </a:lnTo>
                  <a:lnTo>
                    <a:pt x="251714" y="218173"/>
                  </a:lnTo>
                  <a:close/>
                </a:path>
                <a:path w="392430" h="243840">
                  <a:moveTo>
                    <a:pt x="259867" y="156908"/>
                  </a:moveTo>
                  <a:lnTo>
                    <a:pt x="257949" y="147370"/>
                  </a:lnTo>
                  <a:lnTo>
                    <a:pt x="252691" y="139585"/>
                  </a:lnTo>
                  <a:lnTo>
                    <a:pt x="244906" y="134340"/>
                  </a:lnTo>
                  <a:lnTo>
                    <a:pt x="235381" y="132410"/>
                  </a:lnTo>
                  <a:lnTo>
                    <a:pt x="225844" y="134340"/>
                  </a:lnTo>
                  <a:lnTo>
                    <a:pt x="218071" y="139585"/>
                  </a:lnTo>
                  <a:lnTo>
                    <a:pt x="212826" y="147370"/>
                  </a:lnTo>
                  <a:lnTo>
                    <a:pt x="210896" y="156908"/>
                  </a:lnTo>
                  <a:lnTo>
                    <a:pt x="212826" y="166446"/>
                  </a:lnTo>
                  <a:lnTo>
                    <a:pt x="218071" y="174231"/>
                  </a:lnTo>
                  <a:lnTo>
                    <a:pt x="225844" y="179489"/>
                  </a:lnTo>
                  <a:lnTo>
                    <a:pt x="235381" y="181406"/>
                  </a:lnTo>
                  <a:lnTo>
                    <a:pt x="244906" y="179489"/>
                  </a:lnTo>
                  <a:lnTo>
                    <a:pt x="252691" y="174231"/>
                  </a:lnTo>
                  <a:lnTo>
                    <a:pt x="257949" y="166446"/>
                  </a:lnTo>
                  <a:lnTo>
                    <a:pt x="259867" y="156908"/>
                  </a:lnTo>
                  <a:close/>
                </a:path>
                <a:path w="392430" h="243840">
                  <a:moveTo>
                    <a:pt x="259867" y="86614"/>
                  </a:moveTo>
                  <a:lnTo>
                    <a:pt x="257949" y="77076"/>
                  </a:lnTo>
                  <a:lnTo>
                    <a:pt x="252691" y="69291"/>
                  </a:lnTo>
                  <a:lnTo>
                    <a:pt x="244906" y="64058"/>
                  </a:lnTo>
                  <a:lnTo>
                    <a:pt x="235381" y="62128"/>
                  </a:lnTo>
                  <a:lnTo>
                    <a:pt x="225844" y="64058"/>
                  </a:lnTo>
                  <a:lnTo>
                    <a:pt x="218071" y="69291"/>
                  </a:lnTo>
                  <a:lnTo>
                    <a:pt x="212826" y="77076"/>
                  </a:lnTo>
                  <a:lnTo>
                    <a:pt x="210896" y="86614"/>
                  </a:lnTo>
                  <a:lnTo>
                    <a:pt x="212826" y="96151"/>
                  </a:lnTo>
                  <a:lnTo>
                    <a:pt x="218071" y="103936"/>
                  </a:lnTo>
                  <a:lnTo>
                    <a:pt x="225844" y="109181"/>
                  </a:lnTo>
                  <a:lnTo>
                    <a:pt x="235381" y="111099"/>
                  </a:lnTo>
                  <a:lnTo>
                    <a:pt x="244906" y="109181"/>
                  </a:lnTo>
                  <a:lnTo>
                    <a:pt x="252691" y="103936"/>
                  </a:lnTo>
                  <a:lnTo>
                    <a:pt x="257949" y="96151"/>
                  </a:lnTo>
                  <a:lnTo>
                    <a:pt x="259867" y="86614"/>
                  </a:lnTo>
                  <a:close/>
                </a:path>
                <a:path w="392430" h="243840">
                  <a:moveTo>
                    <a:pt x="322021" y="183045"/>
                  </a:moveTo>
                  <a:lnTo>
                    <a:pt x="314706" y="175742"/>
                  </a:lnTo>
                  <a:lnTo>
                    <a:pt x="296659" y="175742"/>
                  </a:lnTo>
                  <a:lnTo>
                    <a:pt x="289356" y="183045"/>
                  </a:lnTo>
                  <a:lnTo>
                    <a:pt x="289356" y="201079"/>
                  </a:lnTo>
                  <a:lnTo>
                    <a:pt x="296659" y="208381"/>
                  </a:lnTo>
                  <a:lnTo>
                    <a:pt x="314706" y="208381"/>
                  </a:lnTo>
                  <a:lnTo>
                    <a:pt x="322021" y="201079"/>
                  </a:lnTo>
                  <a:lnTo>
                    <a:pt x="322021" y="192062"/>
                  </a:lnTo>
                  <a:lnTo>
                    <a:pt x="322021" y="183045"/>
                  </a:lnTo>
                  <a:close/>
                </a:path>
                <a:path w="392430" h="243840">
                  <a:moveTo>
                    <a:pt x="330187" y="121767"/>
                  </a:moveTo>
                  <a:lnTo>
                    <a:pt x="328256" y="112229"/>
                  </a:lnTo>
                  <a:lnTo>
                    <a:pt x="323011" y="104444"/>
                  </a:lnTo>
                  <a:lnTo>
                    <a:pt x="315214" y="99187"/>
                  </a:lnTo>
                  <a:lnTo>
                    <a:pt x="305676" y="97269"/>
                  </a:lnTo>
                  <a:lnTo>
                    <a:pt x="296151" y="99187"/>
                  </a:lnTo>
                  <a:lnTo>
                    <a:pt x="288366" y="104444"/>
                  </a:lnTo>
                  <a:lnTo>
                    <a:pt x="283121" y="112229"/>
                  </a:lnTo>
                  <a:lnTo>
                    <a:pt x="281190" y="121767"/>
                  </a:lnTo>
                  <a:lnTo>
                    <a:pt x="283121" y="131292"/>
                  </a:lnTo>
                  <a:lnTo>
                    <a:pt x="288366" y="139077"/>
                  </a:lnTo>
                  <a:lnTo>
                    <a:pt x="296151" y="144335"/>
                  </a:lnTo>
                  <a:lnTo>
                    <a:pt x="305676" y="146253"/>
                  </a:lnTo>
                  <a:lnTo>
                    <a:pt x="315214" y="144335"/>
                  </a:lnTo>
                  <a:lnTo>
                    <a:pt x="323011" y="139077"/>
                  </a:lnTo>
                  <a:lnTo>
                    <a:pt x="328256" y="131292"/>
                  </a:lnTo>
                  <a:lnTo>
                    <a:pt x="330187" y="121767"/>
                  </a:lnTo>
                  <a:close/>
                </a:path>
                <a:path w="392430" h="243840">
                  <a:moveTo>
                    <a:pt x="330187" y="51460"/>
                  </a:moveTo>
                  <a:lnTo>
                    <a:pt x="328256" y="41935"/>
                  </a:lnTo>
                  <a:lnTo>
                    <a:pt x="323011" y="34150"/>
                  </a:lnTo>
                  <a:lnTo>
                    <a:pt x="315214" y="28892"/>
                  </a:lnTo>
                  <a:lnTo>
                    <a:pt x="305676" y="26974"/>
                  </a:lnTo>
                  <a:lnTo>
                    <a:pt x="296151" y="28892"/>
                  </a:lnTo>
                  <a:lnTo>
                    <a:pt x="288366" y="34150"/>
                  </a:lnTo>
                  <a:lnTo>
                    <a:pt x="283121" y="41935"/>
                  </a:lnTo>
                  <a:lnTo>
                    <a:pt x="281190" y="51460"/>
                  </a:lnTo>
                  <a:lnTo>
                    <a:pt x="283121" y="60998"/>
                  </a:lnTo>
                  <a:lnTo>
                    <a:pt x="288366" y="68783"/>
                  </a:lnTo>
                  <a:lnTo>
                    <a:pt x="296151" y="74041"/>
                  </a:lnTo>
                  <a:lnTo>
                    <a:pt x="305676" y="75971"/>
                  </a:lnTo>
                  <a:lnTo>
                    <a:pt x="315214" y="74041"/>
                  </a:lnTo>
                  <a:lnTo>
                    <a:pt x="323011" y="68783"/>
                  </a:lnTo>
                  <a:lnTo>
                    <a:pt x="328256" y="60998"/>
                  </a:lnTo>
                  <a:lnTo>
                    <a:pt x="330187" y="51460"/>
                  </a:lnTo>
                  <a:close/>
                </a:path>
                <a:path w="392430" h="243840">
                  <a:moveTo>
                    <a:pt x="392315" y="147891"/>
                  </a:moveTo>
                  <a:lnTo>
                    <a:pt x="385000" y="140576"/>
                  </a:lnTo>
                  <a:lnTo>
                    <a:pt x="366966" y="140576"/>
                  </a:lnTo>
                  <a:lnTo>
                    <a:pt x="359638" y="147891"/>
                  </a:lnTo>
                  <a:lnTo>
                    <a:pt x="359638" y="165938"/>
                  </a:lnTo>
                  <a:lnTo>
                    <a:pt x="366966" y="173253"/>
                  </a:lnTo>
                  <a:lnTo>
                    <a:pt x="385000" y="173253"/>
                  </a:lnTo>
                  <a:lnTo>
                    <a:pt x="392315" y="165912"/>
                  </a:lnTo>
                  <a:lnTo>
                    <a:pt x="392315" y="156908"/>
                  </a:lnTo>
                  <a:lnTo>
                    <a:pt x="392315" y="147891"/>
                  </a:lnTo>
                  <a:close/>
                </a:path>
                <a:path w="392430" h="243840">
                  <a:moveTo>
                    <a:pt x="392315" y="7302"/>
                  </a:moveTo>
                  <a:lnTo>
                    <a:pt x="385000" y="0"/>
                  </a:lnTo>
                  <a:lnTo>
                    <a:pt x="366941" y="0"/>
                  </a:lnTo>
                  <a:lnTo>
                    <a:pt x="359638" y="7302"/>
                  </a:lnTo>
                  <a:lnTo>
                    <a:pt x="359638" y="25336"/>
                  </a:lnTo>
                  <a:lnTo>
                    <a:pt x="366941" y="32651"/>
                  </a:lnTo>
                  <a:lnTo>
                    <a:pt x="385000" y="32651"/>
                  </a:lnTo>
                  <a:lnTo>
                    <a:pt x="392315" y="25336"/>
                  </a:lnTo>
                  <a:lnTo>
                    <a:pt x="392315" y="16332"/>
                  </a:lnTo>
                  <a:lnTo>
                    <a:pt x="392315" y="7302"/>
                  </a:lnTo>
                  <a:close/>
                </a:path>
              </a:pathLst>
            </a:custGeom>
            <a:solidFill>
              <a:srgbClr val="FFFFFF"/>
            </a:solidFill>
          </p:spPr>
          <p:txBody>
            <a:bodyPr wrap="square" lIns="0" tIns="0" rIns="0" bIns="0" rtlCol="0"/>
            <a:lstStyle/>
            <a:p>
              <a:endParaRPr/>
            </a:p>
          </p:txBody>
        </p:sp>
        <p:sp>
          <p:nvSpPr>
            <p:cNvPr id="8" name="object 36"/>
            <p:cNvSpPr/>
            <p:nvPr/>
          </p:nvSpPr>
          <p:spPr>
            <a:xfrm>
              <a:off x="2612030" y="523528"/>
              <a:ext cx="49530" cy="49530"/>
            </a:xfrm>
            <a:custGeom>
              <a:avLst/>
              <a:gdLst/>
              <a:ahLst/>
              <a:cxnLst/>
              <a:rect l="l" t="t" r="r" b="b"/>
              <a:pathLst>
                <a:path w="49530" h="49529">
                  <a:moveTo>
                    <a:pt x="24479" y="0"/>
                  </a:moveTo>
                  <a:lnTo>
                    <a:pt x="14956" y="1925"/>
                  </a:lnTo>
                  <a:lnTo>
                    <a:pt x="7175" y="7175"/>
                  </a:lnTo>
                  <a:lnTo>
                    <a:pt x="1925" y="14957"/>
                  </a:lnTo>
                  <a:lnTo>
                    <a:pt x="0" y="24479"/>
                  </a:lnTo>
                  <a:lnTo>
                    <a:pt x="1925" y="34018"/>
                  </a:lnTo>
                  <a:lnTo>
                    <a:pt x="7175" y="41800"/>
                  </a:lnTo>
                  <a:lnTo>
                    <a:pt x="14956" y="47044"/>
                  </a:lnTo>
                  <a:lnTo>
                    <a:pt x="24479" y="48966"/>
                  </a:lnTo>
                  <a:lnTo>
                    <a:pt x="34018" y="47044"/>
                  </a:lnTo>
                  <a:lnTo>
                    <a:pt x="41800" y="41800"/>
                  </a:lnTo>
                  <a:lnTo>
                    <a:pt x="47044" y="34018"/>
                  </a:lnTo>
                  <a:lnTo>
                    <a:pt x="48966" y="24479"/>
                  </a:lnTo>
                  <a:lnTo>
                    <a:pt x="47044" y="14957"/>
                  </a:lnTo>
                  <a:lnTo>
                    <a:pt x="41800" y="7175"/>
                  </a:lnTo>
                  <a:lnTo>
                    <a:pt x="34018" y="1925"/>
                  </a:lnTo>
                  <a:lnTo>
                    <a:pt x="24479" y="0"/>
                  </a:lnTo>
                  <a:close/>
                </a:path>
              </a:pathLst>
            </a:custGeom>
            <a:solidFill>
              <a:srgbClr val="ED1342"/>
            </a:solidFill>
          </p:spPr>
          <p:txBody>
            <a:bodyPr wrap="square" lIns="0" tIns="0" rIns="0" bIns="0" rtlCol="0"/>
            <a:lstStyle/>
            <a:p>
              <a:endParaRPr/>
            </a:p>
          </p:txBody>
        </p:sp>
        <p:sp>
          <p:nvSpPr>
            <p:cNvPr id="9" name="object 37"/>
            <p:cNvSpPr/>
            <p:nvPr/>
          </p:nvSpPr>
          <p:spPr>
            <a:xfrm>
              <a:off x="2556675" y="433031"/>
              <a:ext cx="300355" cy="300355"/>
            </a:xfrm>
            <a:custGeom>
              <a:avLst/>
              <a:gdLst/>
              <a:ahLst/>
              <a:cxnLst/>
              <a:rect l="l" t="t" r="r" b="b"/>
              <a:pathLst>
                <a:path w="300355" h="300355">
                  <a:moveTo>
                    <a:pt x="19088" y="215150"/>
                  </a:moveTo>
                  <a:lnTo>
                    <a:pt x="14820" y="210883"/>
                  </a:lnTo>
                  <a:lnTo>
                    <a:pt x="4267" y="210883"/>
                  </a:lnTo>
                  <a:lnTo>
                    <a:pt x="0" y="215150"/>
                  </a:lnTo>
                  <a:lnTo>
                    <a:pt x="0" y="225704"/>
                  </a:lnTo>
                  <a:lnTo>
                    <a:pt x="4267" y="229971"/>
                  </a:lnTo>
                  <a:lnTo>
                    <a:pt x="14820" y="229971"/>
                  </a:lnTo>
                  <a:lnTo>
                    <a:pt x="19088" y="225704"/>
                  </a:lnTo>
                  <a:lnTo>
                    <a:pt x="19088" y="220433"/>
                  </a:lnTo>
                  <a:lnTo>
                    <a:pt x="19088" y="215150"/>
                  </a:lnTo>
                  <a:close/>
                </a:path>
                <a:path w="300355" h="300355">
                  <a:moveTo>
                    <a:pt x="19088" y="144868"/>
                  </a:moveTo>
                  <a:lnTo>
                    <a:pt x="14820" y="140601"/>
                  </a:lnTo>
                  <a:lnTo>
                    <a:pt x="4267" y="140601"/>
                  </a:lnTo>
                  <a:lnTo>
                    <a:pt x="0" y="144868"/>
                  </a:lnTo>
                  <a:lnTo>
                    <a:pt x="0" y="155384"/>
                  </a:lnTo>
                  <a:lnTo>
                    <a:pt x="4267" y="159677"/>
                  </a:lnTo>
                  <a:lnTo>
                    <a:pt x="14820" y="159677"/>
                  </a:lnTo>
                  <a:lnTo>
                    <a:pt x="19088" y="155384"/>
                  </a:lnTo>
                  <a:lnTo>
                    <a:pt x="19088" y="150139"/>
                  </a:lnTo>
                  <a:lnTo>
                    <a:pt x="19088" y="144868"/>
                  </a:lnTo>
                  <a:close/>
                </a:path>
                <a:path w="300355" h="300355">
                  <a:moveTo>
                    <a:pt x="89382" y="39420"/>
                  </a:moveTo>
                  <a:lnTo>
                    <a:pt x="85102" y="35153"/>
                  </a:lnTo>
                  <a:lnTo>
                    <a:pt x="74561" y="35153"/>
                  </a:lnTo>
                  <a:lnTo>
                    <a:pt x="70294" y="39420"/>
                  </a:lnTo>
                  <a:lnTo>
                    <a:pt x="70294" y="49974"/>
                  </a:lnTo>
                  <a:lnTo>
                    <a:pt x="74561" y="54241"/>
                  </a:lnTo>
                  <a:lnTo>
                    <a:pt x="85102" y="54241"/>
                  </a:lnTo>
                  <a:lnTo>
                    <a:pt x="89382" y="49974"/>
                  </a:lnTo>
                  <a:lnTo>
                    <a:pt x="89382" y="44704"/>
                  </a:lnTo>
                  <a:lnTo>
                    <a:pt x="89382" y="39420"/>
                  </a:lnTo>
                  <a:close/>
                </a:path>
                <a:path w="300355" h="300355">
                  <a:moveTo>
                    <a:pt x="159664" y="214655"/>
                  </a:moveTo>
                  <a:lnTo>
                    <a:pt x="155397" y="210388"/>
                  </a:lnTo>
                  <a:lnTo>
                    <a:pt x="144843" y="210388"/>
                  </a:lnTo>
                  <a:lnTo>
                    <a:pt x="140576" y="214655"/>
                  </a:lnTo>
                  <a:lnTo>
                    <a:pt x="140576" y="225209"/>
                  </a:lnTo>
                  <a:lnTo>
                    <a:pt x="144843" y="229476"/>
                  </a:lnTo>
                  <a:lnTo>
                    <a:pt x="155397" y="229476"/>
                  </a:lnTo>
                  <a:lnTo>
                    <a:pt x="159664" y="225209"/>
                  </a:lnTo>
                  <a:lnTo>
                    <a:pt x="159664" y="219925"/>
                  </a:lnTo>
                  <a:lnTo>
                    <a:pt x="159664" y="214655"/>
                  </a:lnTo>
                  <a:close/>
                </a:path>
                <a:path w="300355" h="300355">
                  <a:moveTo>
                    <a:pt x="159664" y="4267"/>
                  </a:moveTo>
                  <a:lnTo>
                    <a:pt x="155397" y="0"/>
                  </a:lnTo>
                  <a:lnTo>
                    <a:pt x="144843" y="0"/>
                  </a:lnTo>
                  <a:lnTo>
                    <a:pt x="140576" y="4267"/>
                  </a:lnTo>
                  <a:lnTo>
                    <a:pt x="140576" y="14808"/>
                  </a:lnTo>
                  <a:lnTo>
                    <a:pt x="144843" y="19075"/>
                  </a:lnTo>
                  <a:lnTo>
                    <a:pt x="155397" y="19075"/>
                  </a:lnTo>
                  <a:lnTo>
                    <a:pt x="159664" y="14808"/>
                  </a:lnTo>
                  <a:lnTo>
                    <a:pt x="159664" y="9537"/>
                  </a:lnTo>
                  <a:lnTo>
                    <a:pt x="159664" y="4267"/>
                  </a:lnTo>
                  <a:close/>
                </a:path>
                <a:path w="300355" h="300355">
                  <a:moveTo>
                    <a:pt x="229984" y="39420"/>
                  </a:moveTo>
                  <a:lnTo>
                    <a:pt x="225704" y="35153"/>
                  </a:lnTo>
                  <a:lnTo>
                    <a:pt x="215138" y="35153"/>
                  </a:lnTo>
                  <a:lnTo>
                    <a:pt x="210896" y="39420"/>
                  </a:lnTo>
                  <a:lnTo>
                    <a:pt x="210896" y="49974"/>
                  </a:lnTo>
                  <a:lnTo>
                    <a:pt x="215138" y="54241"/>
                  </a:lnTo>
                  <a:lnTo>
                    <a:pt x="225704" y="54241"/>
                  </a:lnTo>
                  <a:lnTo>
                    <a:pt x="229984" y="49974"/>
                  </a:lnTo>
                  <a:lnTo>
                    <a:pt x="229984" y="44704"/>
                  </a:lnTo>
                  <a:lnTo>
                    <a:pt x="229984" y="39420"/>
                  </a:lnTo>
                  <a:close/>
                </a:path>
                <a:path w="300355" h="300355">
                  <a:moveTo>
                    <a:pt x="299770" y="285445"/>
                  </a:moveTo>
                  <a:lnTo>
                    <a:pt x="295490" y="281178"/>
                  </a:lnTo>
                  <a:lnTo>
                    <a:pt x="284949" y="281178"/>
                  </a:lnTo>
                  <a:lnTo>
                    <a:pt x="280682" y="285445"/>
                  </a:lnTo>
                  <a:lnTo>
                    <a:pt x="280682" y="295998"/>
                  </a:lnTo>
                  <a:lnTo>
                    <a:pt x="284949" y="300291"/>
                  </a:lnTo>
                  <a:lnTo>
                    <a:pt x="295490" y="300291"/>
                  </a:lnTo>
                  <a:lnTo>
                    <a:pt x="299770" y="295998"/>
                  </a:lnTo>
                  <a:lnTo>
                    <a:pt x="299770" y="290715"/>
                  </a:lnTo>
                  <a:lnTo>
                    <a:pt x="299770" y="285445"/>
                  </a:lnTo>
                  <a:close/>
                </a:path>
              </a:pathLst>
            </a:custGeom>
            <a:solidFill>
              <a:srgbClr val="FFFFFF"/>
            </a:solidFill>
          </p:spPr>
          <p:txBody>
            <a:bodyPr wrap="square" lIns="0" tIns="0" rIns="0" bIns="0" rtlCol="0"/>
            <a:lstStyle/>
            <a:p>
              <a:endParaRPr/>
            </a:p>
          </p:txBody>
        </p:sp>
      </p:grpSp>
      <p:sp>
        <p:nvSpPr>
          <p:cNvPr id="10" name="TextBox 9"/>
          <p:cNvSpPr txBox="1"/>
          <p:nvPr/>
        </p:nvSpPr>
        <p:spPr>
          <a:xfrm>
            <a:off x="932688" y="2633472"/>
            <a:ext cx="10666703" cy="1323439"/>
          </a:xfrm>
          <a:prstGeom prst="rect">
            <a:avLst/>
          </a:prstGeom>
          <a:noFill/>
        </p:spPr>
        <p:txBody>
          <a:bodyPr wrap="none" rtlCol="0">
            <a:spAutoFit/>
          </a:bodyPr>
          <a:lstStyle/>
          <a:p>
            <a:r>
              <a:rPr lang="ru-RU" sz="8000" i="1" dirty="0" smtClean="0">
                <a:solidFill>
                  <a:schemeClr val="bg1"/>
                </a:solidFill>
                <a:latin typeface="Tahoma" panose="020B0604030504040204" pitchFamily="34" charset="0"/>
                <a:ea typeface="Tahoma" panose="020B0604030504040204" pitchFamily="34" charset="0"/>
                <a:cs typeface="Tahoma" panose="020B0604030504040204" pitchFamily="34" charset="0"/>
              </a:rPr>
              <a:t>Спасибо за внимание!</a:t>
            </a:r>
            <a:endParaRPr lang="ru-RU" sz="8000" i="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999919418"/>
      </p:ext>
    </p:extLst>
  </p:cSld>
  <p:clrMapOvr>
    <a:masterClrMapping/>
  </p:clrMapOvr>
  <p:timing>
    <p:tnLst>
      <p:par>
        <p:cTn id="1" dur="indefinite" restart="never" nodeType="tmRoot"/>
      </p:par>
    </p:tnLst>
  </p:timing>
</p:sld>
</file>

<file path=ppt/theme/theme1.xml><?xml version="1.0" encoding="utf-8"?>
<a:theme xmlns:a="http://schemas.openxmlformats.org/drawingml/2006/main" name="Тема1">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Тема1" id="{78DE3C6E-3827-46B5-906C-8FD8423CDAC7}" vid="{BDD9C4E0-F932-472B-A299-CC04EE3F882B}"/>
    </a:ext>
  </a:extLst>
</a:theme>
</file>

<file path=docProps/app.xml><?xml version="1.0" encoding="utf-8"?>
<Properties xmlns="http://schemas.openxmlformats.org/officeDocument/2006/extended-properties" xmlns:vt="http://schemas.openxmlformats.org/officeDocument/2006/docPropsVTypes">
  <Template>Тема1</Template>
  <TotalTime>271</TotalTime>
  <Words>1563</Words>
  <Application>Microsoft Office PowerPoint</Application>
  <PresentationFormat>Широкоэкранный</PresentationFormat>
  <Paragraphs>140</Paragraphs>
  <Slides>12</Slides>
  <Notes>0</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12</vt:i4>
      </vt:variant>
    </vt:vector>
  </HeadingPairs>
  <TitlesOfParts>
    <vt:vector size="16" baseType="lpstr">
      <vt:lpstr>Arial</vt:lpstr>
      <vt:lpstr>Arial MT</vt:lpstr>
      <vt:lpstr>Tahoma</vt:lpstr>
      <vt:lpstr>Тема1</vt:lpstr>
      <vt:lpstr>Презентация PowerPoint</vt:lpstr>
      <vt:lpstr>Анализ и постановка проблемы</vt:lpstr>
      <vt:lpstr>Обзор современных методов и подходов к решению задачи </vt:lpstr>
      <vt:lpstr>Реализация рассматриваемых методов</vt:lpstr>
      <vt:lpstr>Графики обучаемой модели</vt:lpstr>
      <vt:lpstr>Анализ принципа работы MediaPipe</vt:lpstr>
      <vt:lpstr>Описание и анализ полученных результатов</vt:lpstr>
      <vt:lpstr>Описание и анализ полученных результатов</vt:lpstr>
      <vt:lpstr>Сравнительный анализ двух методов</vt:lpstr>
      <vt:lpstr>Сравнительный анализ двух методов</vt:lpstr>
      <vt:lpstr>Заключение  </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на тему  курсового проекта  «Интерактивное управление роботом с помощью жестов руки»</dc:title>
  <dc:creator>Даниил Стадников</dc:creator>
  <cp:lastModifiedBy>Даниил Стадников</cp:lastModifiedBy>
  <cp:revision>23</cp:revision>
  <dcterms:created xsi:type="dcterms:W3CDTF">2025-01-07T11:58:05Z</dcterms:created>
  <dcterms:modified xsi:type="dcterms:W3CDTF">2025-01-11T06:12:32Z</dcterms:modified>
</cp:coreProperties>
</file>